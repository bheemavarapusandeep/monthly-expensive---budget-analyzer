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72" r:id="rId9"/>
    <p:sldId id="270"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eemavarapu Sandeep" userId="e726bd07d3e21583" providerId="LiveId" clId="{D1F704B6-C50A-4B02-97E1-02B0B3D270F9}"/>
    <pc:docChg chg="modSld">
      <pc:chgData name="Bheemavarapu Sandeep" userId="e726bd07d3e21583" providerId="LiveId" clId="{D1F704B6-C50A-4B02-97E1-02B0B3D270F9}" dt="2026-10-15T13:22:37.981" v="16" actId="20577"/>
      <pc:docMkLst>
        <pc:docMk/>
      </pc:docMkLst>
      <pc:sldChg chg="modSp mod">
        <pc:chgData name="Bheemavarapu Sandeep" userId="e726bd07d3e21583" providerId="LiveId" clId="{D1F704B6-C50A-4B02-97E1-02B0B3D270F9}" dt="2026-10-15T13:22:37.981" v="16" actId="20577"/>
        <pc:sldMkLst>
          <pc:docMk/>
          <pc:sldMk cId="1442967066" sldId="256"/>
        </pc:sldMkLst>
        <pc:graphicFrameChg chg="modGraphic">
          <ac:chgData name="Bheemavarapu Sandeep" userId="e726bd07d3e21583" providerId="LiveId" clId="{D1F704B6-C50A-4B02-97E1-02B0B3D270F9}" dt="2026-10-15T13:22:37.981" v="16" actId="20577"/>
          <ac:graphicFrameMkLst>
            <pc:docMk/>
            <pc:sldMk cId="1442967066" sldId="256"/>
            <ac:graphicFrameMk id="4" creationId="{A4A59169-7879-75FA-45CC-33D342A3A655}"/>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CBB5-36C3-E1BE-2A91-FFB5C939A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9CC38D-4F52-82FA-3C65-911719C5A2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64BFA3-E40E-1F72-E25C-B6B2CBAD22B0}"/>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820EE3D7-9BE7-6830-AAD1-D5851246C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946D58-46A8-BA74-A534-4DA05B68229A}"/>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757570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896A-ACE0-0492-FB11-6823F3F24C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50CB51-F29D-0999-FF1D-6F34322461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0851F4-86AA-8D60-885D-F5F36CC28DE8}"/>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B60ECC94-300D-B19A-1E67-BCC55215AC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4A55E7-9431-0F3C-9D6F-124A9F0DD53D}"/>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132345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B92B-5FB5-F807-3AAB-B7D2437AFA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80538E-C696-D6D4-097B-48A55C3B4C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0A8ED6-1737-5CA2-63FC-F23E3C4763C4}"/>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6D3EAA2A-3086-E810-04C6-490DED9746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71AEDE-1DD6-33A4-8A72-8C329875DDB5}"/>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2861554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23A53-1E4F-9D4B-37CF-4EC3BD49E2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F692E0-453E-8A4E-E8E4-95154EC98C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652428-3DAE-EDEC-15C1-174D7B3CF8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7D3D13-6E56-FFDB-6763-AD683E4926FC}"/>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6" name="Footer Placeholder 5">
            <a:extLst>
              <a:ext uri="{FF2B5EF4-FFF2-40B4-BE49-F238E27FC236}">
                <a16:creationId xmlns:a16="http://schemas.microsoft.com/office/drawing/2014/main" id="{E429B045-B41B-4274-D2BA-0F8F74745D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838461-A870-1BD0-1C4D-DDCC6E2C6A54}"/>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29142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808D9-83A0-2413-FD4B-DA098B1421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271CA6-1457-78F5-6FB1-08B922F1F7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5E41C6-FC99-F3E3-4BD3-0B238A3AF7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9B69FC-9BC2-3B1C-D949-56D50FB62B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85432-AF89-8DDF-492D-B36082D6B7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79410F-67E5-B7A7-34B9-6199E8192256}"/>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8" name="Footer Placeholder 7">
            <a:extLst>
              <a:ext uri="{FF2B5EF4-FFF2-40B4-BE49-F238E27FC236}">
                <a16:creationId xmlns:a16="http://schemas.microsoft.com/office/drawing/2014/main" id="{89B2AF20-F42B-6FF9-5944-3AEEAEFB1F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834598-E1E9-EC31-5B20-916F14ADA6FB}"/>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315085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EFE1-A23B-5A24-4B1B-4E51CC8E18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3EF0BE-2D27-1910-CEE6-1A0A7F98CE0A}"/>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4" name="Footer Placeholder 3">
            <a:extLst>
              <a:ext uri="{FF2B5EF4-FFF2-40B4-BE49-F238E27FC236}">
                <a16:creationId xmlns:a16="http://schemas.microsoft.com/office/drawing/2014/main" id="{A6A69DE9-9B7F-0AF5-71FB-07C0EF2BBB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C13482-9D33-DD5F-29AB-FE38357DE40B}"/>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406882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7D2B72-0BC7-A555-2430-A5BD1B45AA60}"/>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3" name="Footer Placeholder 2">
            <a:extLst>
              <a:ext uri="{FF2B5EF4-FFF2-40B4-BE49-F238E27FC236}">
                <a16:creationId xmlns:a16="http://schemas.microsoft.com/office/drawing/2014/main" id="{812E91C5-2732-B7EE-BB9A-E2D7F332D1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E4FB93-3708-21EB-675E-9F4EB1F41648}"/>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3784149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8602-9D34-FBE2-B052-FA370BD703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E41D75-52D1-63BF-7CA2-ABBD460F91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A6A314-5CF1-7EDA-40A0-C66F33FD2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B19D1-A759-9BD1-3EF2-82F031260868}"/>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6" name="Footer Placeholder 5">
            <a:extLst>
              <a:ext uri="{FF2B5EF4-FFF2-40B4-BE49-F238E27FC236}">
                <a16:creationId xmlns:a16="http://schemas.microsoft.com/office/drawing/2014/main" id="{1186116C-2C54-88CD-9AB6-DCC857DEFC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246B5E-6F79-5E04-55EB-F03B12C6384F}"/>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305994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F2ED-453B-CE5F-A531-C961610D06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935D523-23A1-34E3-B8AC-7047CC99E38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AD0848-7674-2882-0B93-8C9405D137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08F3F-1DBF-0979-FED1-F9AC14099E31}"/>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6" name="Footer Placeholder 5">
            <a:extLst>
              <a:ext uri="{FF2B5EF4-FFF2-40B4-BE49-F238E27FC236}">
                <a16:creationId xmlns:a16="http://schemas.microsoft.com/office/drawing/2014/main" id="{1C6925B3-8CF6-5468-CE58-B03EC76B4F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5C60E6-FF95-45AE-3680-78EA601B2766}"/>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1645620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596C-4402-BFA9-B77D-DDDA388172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59FFEC-80FB-781D-0043-430EA2F026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FF0E2-9673-5A7E-0243-1AD78809F4B9}"/>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6FB729C3-1DA0-9EB3-6BD2-F453D59FE6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4077B4-3D64-79C0-7083-EE81CDF97394}"/>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3678053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7F5AC6-9A7C-5E74-3E94-83FF2F9283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E106DE-5CBE-5ED0-AD28-99409776A5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C6CE8C-517D-7D61-1403-8C9A9A032F25}"/>
              </a:ext>
            </a:extLst>
          </p:cNvPr>
          <p:cNvSpPr>
            <a:spLocks noGrp="1"/>
          </p:cNvSpPr>
          <p:nvPr>
            <p:ph type="dt" sz="half" idx="10"/>
          </p:nvPr>
        </p:nvSpPr>
        <p:spPr/>
        <p:txBody>
          <a:body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757221A2-DA0E-9C1F-8BFC-A6E9B5FE00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9FCEC1-1887-5E37-913F-A689F5C6AB9F}"/>
              </a:ext>
            </a:extLst>
          </p:cNvPr>
          <p:cNvSpPr>
            <a:spLocks noGrp="1"/>
          </p:cNvSpPr>
          <p:nvPr>
            <p:ph type="sldNum" sz="quarter" idx="12"/>
          </p:nvPr>
        </p:nvSpPr>
        <p:spPr/>
        <p:txBody>
          <a:bodyPr/>
          <a:lstStyle/>
          <a:p>
            <a:fld id="{38FB1FF2-1D92-4854-BFD3-D5DE2143A4EF}" type="slidenum">
              <a:rPr lang="en-IN" smtClean="0"/>
              <a:t>‹#›</a:t>
            </a:fld>
            <a:endParaRPr lang="en-IN"/>
          </a:p>
        </p:txBody>
      </p:sp>
    </p:spTree>
    <p:extLst>
      <p:ext uri="{BB962C8B-B14F-4D97-AF65-F5344CB8AC3E}">
        <p14:creationId xmlns:p14="http://schemas.microsoft.com/office/powerpoint/2010/main" val="3267692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C0D543-FD5D-24A5-D76E-F4EE180A8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43EE47-D696-6AB6-DA6D-CDDA67B94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55CC3-7F86-F3BF-CFEF-20D84ABD91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248190-E047-4B20-BC6B-4F3CF26D0034}" type="datetimeFigureOut">
              <a:rPr lang="en-IN" smtClean="0"/>
              <a:t>15-10-2026</a:t>
            </a:fld>
            <a:endParaRPr lang="en-IN"/>
          </a:p>
        </p:txBody>
      </p:sp>
      <p:sp>
        <p:nvSpPr>
          <p:cNvPr id="5" name="Footer Placeholder 4">
            <a:extLst>
              <a:ext uri="{FF2B5EF4-FFF2-40B4-BE49-F238E27FC236}">
                <a16:creationId xmlns:a16="http://schemas.microsoft.com/office/drawing/2014/main" id="{839DD741-75F5-8F9C-E2BB-89FFDCC78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3CB3C2B-DC32-B44F-5FC7-75ED213908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FB1FF2-1D92-4854-BFD3-D5DE2143A4EF}" type="slidenum">
              <a:rPr lang="en-IN" smtClean="0"/>
              <a:t>‹#›</a:t>
            </a:fld>
            <a:endParaRPr lang="en-IN"/>
          </a:p>
        </p:txBody>
      </p:sp>
    </p:spTree>
    <p:extLst>
      <p:ext uri="{BB962C8B-B14F-4D97-AF65-F5344CB8AC3E}">
        <p14:creationId xmlns:p14="http://schemas.microsoft.com/office/powerpoint/2010/main" val="3789780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4842-1F42-8E60-18C2-615D11FFC668}"/>
              </a:ext>
            </a:extLst>
          </p:cNvPr>
          <p:cNvSpPr>
            <a:spLocks noGrp="1"/>
          </p:cNvSpPr>
          <p:nvPr>
            <p:ph type="ctrTitle"/>
          </p:nvPr>
        </p:nvSpPr>
        <p:spPr/>
        <p:txBody>
          <a:bodyPr>
            <a:normAutofit fontScale="90000"/>
          </a:bodyPr>
          <a:lstStyle/>
          <a:p>
            <a:r>
              <a:rPr lang="en-IN" b="1" dirty="0">
                <a:latin typeface="Aptos"/>
              </a:rPr>
              <a:t>MONTHLY EXPENSE
&amp; BUDGET ANALYZER</a:t>
            </a:r>
            <a:br>
              <a:rPr lang="en-IN" b="1" dirty="0">
                <a:latin typeface="Aptos"/>
              </a:rPr>
            </a:br>
            <a:endParaRPr lang="en-IN" dirty="0"/>
          </a:p>
        </p:txBody>
      </p:sp>
      <p:sp>
        <p:nvSpPr>
          <p:cNvPr id="3" name="Subtitle 2">
            <a:extLst>
              <a:ext uri="{FF2B5EF4-FFF2-40B4-BE49-F238E27FC236}">
                <a16:creationId xmlns:a16="http://schemas.microsoft.com/office/drawing/2014/main" id="{588F31FB-31AD-60BA-C290-8459121F4D07}"/>
              </a:ext>
            </a:extLst>
          </p:cNvPr>
          <p:cNvSpPr>
            <a:spLocks noGrp="1"/>
          </p:cNvSpPr>
          <p:nvPr>
            <p:ph type="subTitle" idx="1"/>
          </p:nvPr>
        </p:nvSpPr>
        <p:spPr/>
        <p:txBody>
          <a:bodyPr/>
          <a:lstStyle/>
          <a:p>
            <a:r>
              <a:rPr lang="en-IN" dirty="0"/>
              <a:t>  </a:t>
            </a:r>
          </a:p>
        </p:txBody>
      </p:sp>
      <p:graphicFrame>
        <p:nvGraphicFramePr>
          <p:cNvPr id="4" name="Table 3">
            <a:extLst>
              <a:ext uri="{FF2B5EF4-FFF2-40B4-BE49-F238E27FC236}">
                <a16:creationId xmlns:a16="http://schemas.microsoft.com/office/drawing/2014/main" id="{A4A59169-7879-75FA-45CC-33D342A3A655}"/>
              </a:ext>
            </a:extLst>
          </p:cNvPr>
          <p:cNvGraphicFramePr>
            <a:graphicFrameLocks noGrp="1"/>
          </p:cNvGraphicFramePr>
          <p:nvPr>
            <p:extLst>
              <p:ext uri="{D42A27DB-BD31-4B8C-83A1-F6EECF244321}">
                <p14:modId xmlns:p14="http://schemas.microsoft.com/office/powerpoint/2010/main" val="288164304"/>
              </p:ext>
            </p:extLst>
          </p:nvPr>
        </p:nvGraphicFramePr>
        <p:xfrm>
          <a:off x="5943600" y="4429919"/>
          <a:ext cx="6089904" cy="1483360"/>
        </p:xfrm>
        <a:graphic>
          <a:graphicData uri="http://schemas.openxmlformats.org/drawingml/2006/table">
            <a:tbl>
              <a:tblPr firstRow="1" bandRow="1">
                <a:tableStyleId>{5C22544A-7EE6-4342-B048-85BDC9FD1C3A}</a:tableStyleId>
              </a:tblPr>
              <a:tblGrid>
                <a:gridCol w="3044952">
                  <a:extLst>
                    <a:ext uri="{9D8B030D-6E8A-4147-A177-3AD203B41FA5}">
                      <a16:colId xmlns:a16="http://schemas.microsoft.com/office/drawing/2014/main" val="994890938"/>
                    </a:ext>
                  </a:extLst>
                </a:gridCol>
                <a:gridCol w="3044952">
                  <a:extLst>
                    <a:ext uri="{9D8B030D-6E8A-4147-A177-3AD203B41FA5}">
                      <a16:colId xmlns:a16="http://schemas.microsoft.com/office/drawing/2014/main" val="3078633177"/>
                    </a:ext>
                  </a:extLst>
                </a:gridCol>
              </a:tblGrid>
              <a:tr h="370840">
                <a:tc>
                  <a:txBody>
                    <a:bodyPr/>
                    <a:lstStyle/>
                    <a:p>
                      <a:r>
                        <a:rPr lang="en-IN" dirty="0"/>
                        <a:t>Name</a:t>
                      </a:r>
                    </a:p>
                  </a:txBody>
                  <a:tcPr/>
                </a:tc>
                <a:tc>
                  <a:txBody>
                    <a:bodyPr/>
                    <a:lstStyle/>
                    <a:p>
                      <a:r>
                        <a:rPr lang="en-IN" dirty="0" err="1"/>
                        <a:t>Rollno</a:t>
                      </a:r>
                      <a:endParaRPr lang="en-IN" dirty="0"/>
                    </a:p>
                  </a:txBody>
                  <a:tcPr/>
                </a:tc>
                <a:extLst>
                  <a:ext uri="{0D108BD9-81ED-4DB2-BD59-A6C34878D82A}">
                    <a16:rowId xmlns:a16="http://schemas.microsoft.com/office/drawing/2014/main" val="230892682"/>
                  </a:ext>
                </a:extLst>
              </a:tr>
              <a:tr h="370840">
                <a:tc>
                  <a:txBody>
                    <a:bodyPr/>
                    <a:lstStyle/>
                    <a:p>
                      <a:r>
                        <a:rPr lang="en-IN" dirty="0"/>
                        <a:t>Sandeep</a:t>
                      </a:r>
                    </a:p>
                  </a:txBody>
                  <a:tcPr/>
                </a:tc>
                <a:tc>
                  <a:txBody>
                    <a:bodyPr/>
                    <a:lstStyle/>
                    <a:p>
                      <a:r>
                        <a:rPr lang="en-IN" dirty="0"/>
                        <a:t>2620090082</a:t>
                      </a:r>
                    </a:p>
                  </a:txBody>
                  <a:tcPr/>
                </a:tc>
                <a:extLst>
                  <a:ext uri="{0D108BD9-81ED-4DB2-BD59-A6C34878D82A}">
                    <a16:rowId xmlns:a16="http://schemas.microsoft.com/office/drawing/2014/main" val="2038136786"/>
                  </a:ext>
                </a:extLst>
              </a:tr>
              <a:tr h="370840">
                <a:tc>
                  <a:txBody>
                    <a:bodyPr/>
                    <a:lstStyle/>
                    <a:p>
                      <a:r>
                        <a:rPr lang="en-IN" dirty="0"/>
                        <a:t>Sai Dhruva</a:t>
                      </a:r>
                    </a:p>
                  </a:txBody>
                  <a:tcPr/>
                </a:tc>
                <a:tc>
                  <a:txBody>
                    <a:bodyPr/>
                    <a:lstStyle/>
                    <a:p>
                      <a:r>
                        <a:rPr lang="en-IN" dirty="0"/>
                        <a:t>2620080118</a:t>
                      </a:r>
                    </a:p>
                  </a:txBody>
                  <a:tcPr/>
                </a:tc>
                <a:extLst>
                  <a:ext uri="{0D108BD9-81ED-4DB2-BD59-A6C34878D82A}">
                    <a16:rowId xmlns:a16="http://schemas.microsoft.com/office/drawing/2014/main" val="364287003"/>
                  </a:ext>
                </a:extLst>
              </a:tr>
              <a:tr h="370840">
                <a:tc>
                  <a:txBody>
                    <a:bodyPr/>
                    <a:lstStyle/>
                    <a:p>
                      <a:r>
                        <a:rPr lang="en-IN"/>
                        <a:t>Bhargav Sri Datta</a:t>
                      </a:r>
                      <a:endParaRPr lang="en-IN" dirty="0"/>
                    </a:p>
                  </a:txBody>
                  <a:tcPr/>
                </a:tc>
                <a:tc>
                  <a:txBody>
                    <a:bodyPr/>
                    <a:lstStyle/>
                    <a:p>
                      <a:r>
                        <a:rPr lang="en-IN" dirty="0"/>
                        <a:t>2620090060</a:t>
                      </a:r>
                    </a:p>
                  </a:txBody>
                  <a:tcPr/>
                </a:tc>
                <a:extLst>
                  <a:ext uri="{0D108BD9-81ED-4DB2-BD59-A6C34878D82A}">
                    <a16:rowId xmlns:a16="http://schemas.microsoft.com/office/drawing/2014/main" val="869160128"/>
                  </a:ext>
                </a:extLst>
              </a:tr>
            </a:tbl>
          </a:graphicData>
        </a:graphic>
      </p:graphicFrame>
      <p:sp>
        <p:nvSpPr>
          <p:cNvPr id="5" name="TextBox 4">
            <a:extLst>
              <a:ext uri="{FF2B5EF4-FFF2-40B4-BE49-F238E27FC236}">
                <a16:creationId xmlns:a16="http://schemas.microsoft.com/office/drawing/2014/main" id="{99E3C9CB-46D0-8F0A-D407-67BAD46CE6E9}"/>
              </a:ext>
            </a:extLst>
          </p:cNvPr>
          <p:cNvSpPr txBox="1"/>
          <p:nvPr/>
        </p:nvSpPr>
        <p:spPr>
          <a:xfrm>
            <a:off x="825721" y="4611469"/>
            <a:ext cx="1877437" cy="646331"/>
          </a:xfrm>
          <a:prstGeom prst="rect">
            <a:avLst/>
          </a:prstGeom>
          <a:noFill/>
        </p:spPr>
        <p:txBody>
          <a:bodyPr wrap="none" rtlCol="0">
            <a:spAutoFit/>
          </a:bodyPr>
          <a:lstStyle/>
          <a:p>
            <a:r>
              <a:rPr lang="en-IN" dirty="0"/>
              <a:t>Under Guidance:</a:t>
            </a:r>
          </a:p>
          <a:p>
            <a:r>
              <a:rPr lang="en-IN" dirty="0"/>
              <a:t>G. Mamatha</a:t>
            </a:r>
          </a:p>
        </p:txBody>
      </p:sp>
      <p:pic>
        <p:nvPicPr>
          <p:cNvPr id="6" name="Picture 5" descr="Best Private University in Telangana &amp; Andhra Pradesh | KLH Hyderabad">
            <a:extLst>
              <a:ext uri="{FF2B5EF4-FFF2-40B4-BE49-F238E27FC236}">
                <a16:creationId xmlns:a16="http://schemas.microsoft.com/office/drawing/2014/main" id="{C21F309F-9A02-C5BC-E280-BDF42B1D9807}"/>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1442967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8ED3-9756-2E1B-125D-A80BD3DC64B7}"/>
              </a:ext>
            </a:extLst>
          </p:cNvPr>
          <p:cNvSpPr>
            <a:spLocks noGrp="1"/>
          </p:cNvSpPr>
          <p:nvPr>
            <p:ph type="title"/>
          </p:nvPr>
        </p:nvSpPr>
        <p:spPr>
          <a:xfrm>
            <a:off x="5044440" y="105685"/>
            <a:ext cx="2435352" cy="814451"/>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EECF0EB-3F82-E0D1-9912-304883BD373D}"/>
              </a:ext>
            </a:extLst>
          </p:cNvPr>
          <p:cNvSpPr>
            <a:spLocks noGrp="1"/>
          </p:cNvSpPr>
          <p:nvPr>
            <p:ph idx="1"/>
          </p:nvPr>
        </p:nvSpPr>
        <p:spPr>
          <a:xfrm>
            <a:off x="1071372" y="1253331"/>
            <a:ext cx="10049256" cy="4351338"/>
          </a:xfrm>
        </p:spPr>
        <p:txBody>
          <a:bodyPr>
            <a:normAutofit/>
          </a:bodyPr>
          <a:lstStyle/>
          <a:p>
            <a:pPr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Monthly Expense &amp; Budget Analyzer is a Java-based application developed to help users manage their monthly income, monitor expenses, and control spending. It allows users to set a monthly budget, record expenses under different categories, calculate total expenditure and remaining balance, and receive budget status alerts.</a:t>
            </a:r>
          </a:p>
          <a:p>
            <a:pPr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project provides a web-based dashboard with a Java backend and an additional console-based interface. It uses HTML, CSS, and JavaScript for the user interface and Java for calculations, data handling, and HTTP API operations. The system helps users understand their spending patterns and make better financial decisions.</a:t>
            </a:r>
          </a:p>
          <a:p>
            <a:pPr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pic>
        <p:nvPicPr>
          <p:cNvPr id="5" name="Picture 4" descr="Best Private University in Telangana &amp; Andhra Pradesh | KLH Hyderabad">
            <a:extLst>
              <a:ext uri="{FF2B5EF4-FFF2-40B4-BE49-F238E27FC236}">
                <a16:creationId xmlns:a16="http://schemas.microsoft.com/office/drawing/2014/main" id="{EB24A2A8-A6D5-AA95-C1FC-E2FBF58127B7}"/>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3817784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A6DF-BF22-E925-CFE8-889DFF0EB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C99F6-8659-C49E-EB52-47FAA3565AF3}"/>
              </a:ext>
            </a:extLst>
          </p:cNvPr>
          <p:cNvSpPr>
            <a:spLocks noGrp="1"/>
          </p:cNvSpPr>
          <p:nvPr>
            <p:ph type="title"/>
          </p:nvPr>
        </p:nvSpPr>
        <p:spPr>
          <a:xfrm>
            <a:off x="2298032" y="149726"/>
            <a:ext cx="5044600" cy="1062622"/>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8FFF34F1-3628-92C2-DAB9-781DB64CD071}"/>
              </a:ext>
            </a:extLst>
          </p:cNvPr>
          <p:cNvSpPr>
            <a:spLocks noGrp="1"/>
          </p:cNvSpPr>
          <p:nvPr>
            <p:ph idx="1"/>
          </p:nvPr>
        </p:nvSpPr>
        <p:spPr>
          <a:xfrm>
            <a:off x="1051560" y="1477524"/>
            <a:ext cx="10530840" cy="4964615"/>
          </a:xfrm>
        </p:spPr>
        <p:txBody>
          <a:bodyPr>
            <a:normAutofit/>
          </a:bodyPr>
          <a:lstStyle/>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Manual expense tracking is time-consuming and difficult to maintain.</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Users may lose track of their monthly spending across different categories.</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Overspending can go unnoticed until the budget is exhausted.</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Calculating total expenses and remaining income manually can lead to errors.</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Users need a simple system to monitor financial status and identify spending patterns</a:t>
            </a:r>
          </a:p>
          <a:p>
            <a:pPr marL="0" lvl="0" indent="0" algn="just">
              <a:buNone/>
            </a:pPr>
            <a:endParaRPr lang="en-IN" sz="2400" dirty="0">
              <a:latin typeface="Times New Roman" panose="02020603050405020304" pitchFamily="18" charset="0"/>
              <a:cs typeface="Times New Roman" panose="02020603050405020304" pitchFamily="18" charset="0"/>
            </a:endParaRPr>
          </a:p>
          <a:p>
            <a:pPr marL="0" lv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IN" sz="2400" b="1" dirty="0">
                <a:latin typeface="Times New Roman" panose="02020603050405020304" pitchFamily="18" charset="0"/>
                <a:cs typeface="Times New Roman" panose="02020603050405020304" pitchFamily="18" charset="0"/>
              </a:rPr>
              <a:t>Problem addressed: </a:t>
            </a:r>
            <a:r>
              <a:rPr lang="en-IN" sz="2400" dirty="0">
                <a:latin typeface="Times New Roman" panose="02020603050405020304" pitchFamily="18" charset="0"/>
                <a:cs typeface="Times New Roman" panose="02020603050405020304" pitchFamily="18" charset="0"/>
              </a:rPr>
              <a:t>The lack of a simple, centralized application for tracking monthly expenses and monitoring budget limits.</a:t>
            </a:r>
          </a:p>
        </p:txBody>
      </p:sp>
      <p:pic>
        <p:nvPicPr>
          <p:cNvPr id="5" name="Picture 4" descr="Best Private University in Telangana &amp; Andhra Pradesh | KLH Hyderabad">
            <a:extLst>
              <a:ext uri="{FF2B5EF4-FFF2-40B4-BE49-F238E27FC236}">
                <a16:creationId xmlns:a16="http://schemas.microsoft.com/office/drawing/2014/main" id="{B4474121-BC2A-A8B5-99D2-7EB24BA20E1E}"/>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2361543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33BC6-B7E0-3C0D-0069-868FACFC6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2F532-44F4-2167-D478-FD604357FE9C}"/>
              </a:ext>
            </a:extLst>
          </p:cNvPr>
          <p:cNvSpPr>
            <a:spLocks noGrp="1"/>
          </p:cNvSpPr>
          <p:nvPr>
            <p:ph type="title"/>
          </p:nvPr>
        </p:nvSpPr>
        <p:spPr>
          <a:xfrm>
            <a:off x="3297936" y="90805"/>
            <a:ext cx="4730496" cy="1052195"/>
          </a:xfrm>
        </p:spPr>
        <p:txBody>
          <a:bodyPr/>
          <a:lstStyle/>
          <a:p>
            <a:r>
              <a:rPr lang="en-IN" b="1" dirty="0">
                <a:latin typeface="Times New Roman" panose="02020603050405020304" pitchFamily="18" charset="0"/>
                <a:cs typeface="Times New Roman" panose="02020603050405020304" pitchFamily="18" charset="0"/>
              </a:rPr>
              <a:t>Proposed</a:t>
            </a:r>
            <a:r>
              <a:rPr lang="en-IN" b="1" dirty="0"/>
              <a:t> Solution</a:t>
            </a:r>
          </a:p>
        </p:txBody>
      </p:sp>
      <p:sp>
        <p:nvSpPr>
          <p:cNvPr id="3" name="Content Placeholder 2">
            <a:extLst>
              <a:ext uri="{FF2B5EF4-FFF2-40B4-BE49-F238E27FC236}">
                <a16:creationId xmlns:a16="http://schemas.microsoft.com/office/drawing/2014/main" id="{94508AFD-6D83-A2B0-21EE-8539DF9D7F1F}"/>
              </a:ext>
            </a:extLst>
          </p:cNvPr>
          <p:cNvSpPr>
            <a:spLocks noGrp="1"/>
          </p:cNvSpPr>
          <p:nvPr>
            <p:ph idx="1"/>
          </p:nvPr>
        </p:nvSpPr>
        <p:spPr>
          <a:xfrm>
            <a:off x="993648" y="1253331"/>
            <a:ext cx="10515600" cy="4351338"/>
          </a:xfrm>
        </p:spPr>
        <p:txBody>
          <a:bodyPr>
            <a:normAutofit/>
          </a:bodyPr>
          <a:lstStyle/>
          <a:p>
            <a:pPr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proposed system provides a centralized expense management dashboard that automates financial calculations and budget monitoring.</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Record expenses with descriptions, categories, amounts, and dates.</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Set monthly income and budget limits.</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Automatically calculate total expenses and remaining balance.</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Display budget consumption and status alerts.</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Show category-wise expense breakdowns.</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View, filter, and delete recorded expenses.</a:t>
            </a:r>
          </a:p>
          <a:p>
            <a:pPr lvl="0" algn="just">
              <a:lnSpc>
                <a:spcPct val="10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Provide both web-based and console-based interfaces.</a:t>
            </a:r>
          </a:p>
        </p:txBody>
      </p:sp>
      <p:pic>
        <p:nvPicPr>
          <p:cNvPr id="5" name="Picture 4" descr="Best Private University in Telangana &amp; Andhra Pradesh | KLH Hyderabad">
            <a:extLst>
              <a:ext uri="{FF2B5EF4-FFF2-40B4-BE49-F238E27FC236}">
                <a16:creationId xmlns:a16="http://schemas.microsoft.com/office/drawing/2014/main" id="{FFF2D505-B9C1-B96A-AD70-F9F07545ED92}"/>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185714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75DCD-E994-92AB-60BF-A4EAFD38E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52AA7-A44E-C53A-6107-08721F4AEEA0}"/>
              </a:ext>
            </a:extLst>
          </p:cNvPr>
          <p:cNvSpPr>
            <a:spLocks noGrp="1"/>
          </p:cNvSpPr>
          <p:nvPr>
            <p:ph type="title"/>
          </p:nvPr>
        </p:nvSpPr>
        <p:spPr>
          <a:xfrm>
            <a:off x="4038600" y="256804"/>
            <a:ext cx="3285744" cy="1144588"/>
          </a:xfrm>
        </p:spPr>
        <p:txBody>
          <a:bodyPr>
            <a:normAutofit fontScale="90000"/>
          </a:bodyPr>
          <a:lstStyle/>
          <a:p>
            <a:r>
              <a:rPr lang="en-IN" b="1" dirty="0">
                <a:latin typeface="Times New Roman" panose="02020603050405020304" pitchFamily="18" charset="0"/>
                <a:cs typeface="Times New Roman" panose="02020603050405020304" pitchFamily="18" charset="0"/>
              </a:rPr>
              <a:t>Objectives</a:t>
            </a:r>
            <a:br>
              <a:rPr lang="en-IN" b="1" dirty="0"/>
            </a:br>
            <a:endParaRPr lang="en-IN" dirty="0"/>
          </a:p>
        </p:txBody>
      </p:sp>
      <p:sp>
        <p:nvSpPr>
          <p:cNvPr id="3" name="Content Placeholder 2">
            <a:extLst>
              <a:ext uri="{FF2B5EF4-FFF2-40B4-BE49-F238E27FC236}">
                <a16:creationId xmlns:a16="http://schemas.microsoft.com/office/drawing/2014/main" id="{BDBC7F36-1B91-D159-C4F6-9F92360A5787}"/>
              </a:ext>
            </a:extLst>
          </p:cNvPr>
          <p:cNvSpPr>
            <a:spLocks noGrp="1"/>
          </p:cNvSpPr>
          <p:nvPr>
            <p:ph idx="1"/>
          </p:nvPr>
        </p:nvSpPr>
        <p:spPr>
          <a:xfrm>
            <a:off x="841092" y="1401392"/>
            <a:ext cx="10515600" cy="4351338"/>
          </a:xfrm>
        </p:spPr>
        <p:txBody>
          <a:bodyPr>
            <a:normAutofit/>
          </a:bodyPr>
          <a:lstStyle/>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Develop a user-friendly expense tracking application.</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Automate monthly expense and balance calculations.</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Categorize spending for easier financial analysis.</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Monitor budget utilization and identify overspending.</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Display financial information through a clear dashboard.</a:t>
            </a: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Apply Java programming concepts, conditional statements, collections, and web technologies in a practical project.</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4" descr="Best Private University in Telangana &amp; Andhra Pradesh | KLH Hyderabad">
            <a:extLst>
              <a:ext uri="{FF2B5EF4-FFF2-40B4-BE49-F238E27FC236}">
                <a16:creationId xmlns:a16="http://schemas.microsoft.com/office/drawing/2014/main" id="{05F0319D-740D-474B-DE7B-ED6545C2B68A}"/>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8302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66982-B287-C2EB-EDFF-666947CA3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7E45A-053C-8633-8971-AFD4EA171187}"/>
              </a:ext>
            </a:extLst>
          </p:cNvPr>
          <p:cNvSpPr>
            <a:spLocks noGrp="1"/>
          </p:cNvSpPr>
          <p:nvPr>
            <p:ph type="title"/>
          </p:nvPr>
        </p:nvSpPr>
        <p:spPr>
          <a:xfrm>
            <a:off x="4248912" y="18255"/>
            <a:ext cx="3523488" cy="1325563"/>
          </a:xfrm>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78B4BD35-4A02-F40A-40DF-59BF3BBAE4F8}"/>
              </a:ext>
            </a:extLst>
          </p:cNvPr>
          <p:cNvSpPr>
            <a:spLocks noGrp="1"/>
          </p:cNvSpPr>
          <p:nvPr>
            <p:ph idx="1"/>
          </p:nvPr>
        </p:nvSpPr>
        <p:spPr/>
        <p:txBody>
          <a:bodyPr>
            <a:noAutofit/>
          </a:bodyPr>
          <a:lstStyle/>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Requirement Analysis: </a:t>
            </a:r>
            <a:r>
              <a:rPr lang="en-IN" sz="2400" dirty="0">
                <a:latin typeface="Times New Roman" panose="02020603050405020304" pitchFamily="18" charset="0"/>
                <a:cs typeface="Times New Roman" panose="02020603050405020304" pitchFamily="18" charset="0"/>
              </a:rPr>
              <a:t>Identify income tracking, expense recording, and budget monitoring requirements.</a:t>
            </a:r>
          </a:p>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Frontend Development: </a:t>
            </a:r>
            <a:r>
              <a:rPr lang="en-IN" sz="2400" dirty="0">
                <a:latin typeface="Times New Roman" panose="02020603050405020304" pitchFamily="18" charset="0"/>
                <a:cs typeface="Times New Roman" panose="02020603050405020304" pitchFamily="18" charset="0"/>
              </a:rPr>
              <a:t>Build the dashboard using HTML, CSS, and JavaScript.</a:t>
            </a:r>
          </a:p>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Backend Development: </a:t>
            </a:r>
            <a:r>
              <a:rPr lang="en-IN" sz="2400" dirty="0">
                <a:latin typeface="Times New Roman" panose="02020603050405020304" pitchFamily="18" charset="0"/>
                <a:cs typeface="Times New Roman" panose="02020603050405020304" pitchFamily="18" charset="0"/>
              </a:rPr>
              <a:t>Implement a Java HTTP server and REST API endpoints.</a:t>
            </a:r>
          </a:p>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Data Processing: </a:t>
            </a:r>
            <a:r>
              <a:rPr lang="en-IN" sz="2400" dirty="0">
                <a:latin typeface="Times New Roman" panose="02020603050405020304" pitchFamily="18" charset="0"/>
                <a:cs typeface="Times New Roman" panose="02020603050405020304" pitchFamily="18" charset="0"/>
              </a:rPr>
              <a:t>Store expense records, calculate totals, and group expenses by category.</a:t>
            </a:r>
          </a:p>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Budget Analysis: </a:t>
            </a:r>
            <a:r>
              <a:rPr lang="en-IN" sz="2400" dirty="0">
                <a:latin typeface="Times New Roman" panose="02020603050405020304" pitchFamily="18" charset="0"/>
                <a:cs typeface="Times New Roman" panose="02020603050405020304" pitchFamily="18" charset="0"/>
              </a:rPr>
              <a:t>Compare total expenses with the budget using conditional statements.</a:t>
            </a:r>
          </a:p>
          <a:p>
            <a:pPr lvl="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Testing: </a:t>
            </a:r>
            <a:r>
              <a:rPr lang="en-IN" sz="2400" dirty="0">
                <a:latin typeface="Times New Roman" panose="02020603050405020304" pitchFamily="18" charset="0"/>
                <a:cs typeface="Times New Roman" panose="02020603050405020304" pitchFamily="18" charset="0"/>
              </a:rPr>
              <a:t>Verify expense addition, deletion, budget updates, calculations, and reset functionality.</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4" descr="Best Private University in Telangana &amp; Andhra Pradesh | KLH Hyderabad">
            <a:extLst>
              <a:ext uri="{FF2B5EF4-FFF2-40B4-BE49-F238E27FC236}">
                <a16:creationId xmlns:a16="http://schemas.microsoft.com/office/drawing/2014/main" id="{EDC24E48-E4B4-6524-4AE0-01E28BC9CCE0}"/>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2693407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51B0-6EBA-1C5C-2171-1AB428AE5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718F5-7CDA-DF1D-BC5D-7F7F1C66CC0D}"/>
              </a:ext>
            </a:extLst>
          </p:cNvPr>
          <p:cNvSpPr>
            <a:spLocks noGrp="1"/>
          </p:cNvSpPr>
          <p:nvPr>
            <p:ph type="title"/>
          </p:nvPr>
        </p:nvSpPr>
        <p:spPr>
          <a:xfrm>
            <a:off x="2164080" y="18255"/>
            <a:ext cx="8022336" cy="1325563"/>
          </a:xfrm>
        </p:spPr>
        <p:txBody>
          <a:bodyPr/>
          <a:lstStyle/>
          <a:p>
            <a:r>
              <a:rPr lang="en-IN" b="1" dirty="0">
                <a:latin typeface="Times New Roman" panose="02020603050405020304" pitchFamily="18" charset="0"/>
                <a:cs typeface="Times New Roman" panose="02020603050405020304" pitchFamily="18" charset="0"/>
              </a:rPr>
              <a:t>System Architecture / Workflow</a:t>
            </a:r>
          </a:p>
        </p:txBody>
      </p:sp>
      <p:pic>
        <p:nvPicPr>
          <p:cNvPr id="6" name="Content Placeholder 5">
            <a:extLst>
              <a:ext uri="{FF2B5EF4-FFF2-40B4-BE49-F238E27FC236}">
                <a16:creationId xmlns:a16="http://schemas.microsoft.com/office/drawing/2014/main" id="{B442B122-4847-2428-C0FC-58F5AFD1FA83}"/>
              </a:ext>
            </a:extLst>
          </p:cNvPr>
          <p:cNvPicPr>
            <a:picLocks noGrp="1" noChangeAspect="1"/>
          </p:cNvPicPr>
          <p:nvPr>
            <p:ph idx="1"/>
          </p:nvPr>
        </p:nvPicPr>
        <p:blipFill>
          <a:blip r:embed="rId2"/>
          <a:stretch>
            <a:fillRect/>
          </a:stretch>
        </p:blipFill>
        <p:spPr>
          <a:xfrm>
            <a:off x="3828530" y="1418872"/>
            <a:ext cx="4958853" cy="4758091"/>
          </a:xfrm>
          <a:prstGeom prst="rect">
            <a:avLst/>
          </a:prstGeom>
        </p:spPr>
      </p:pic>
      <p:pic>
        <p:nvPicPr>
          <p:cNvPr id="5" name="Picture 4" descr="Best Private University in Telangana &amp; Andhra Pradesh | KLH Hyderabad">
            <a:extLst>
              <a:ext uri="{FF2B5EF4-FFF2-40B4-BE49-F238E27FC236}">
                <a16:creationId xmlns:a16="http://schemas.microsoft.com/office/drawing/2014/main" id="{D477FFF2-4E16-8E58-1EB9-8D79C6ADE9BF}"/>
              </a:ext>
            </a:extLst>
          </p:cNvPr>
          <p:cNvPicPr>
            <a:picLocks noChangeAspect="1"/>
          </p:cNvPicPr>
          <p:nvPr/>
        </p:nvPicPr>
        <p:blipFill>
          <a:blip r:embed="rId3"/>
          <a:stretch>
            <a:fillRect/>
          </a:stretch>
        </p:blipFill>
        <p:spPr>
          <a:xfrm>
            <a:off x="0" y="-429769"/>
            <a:ext cx="1682185" cy="1258867"/>
          </a:xfrm>
          <a:prstGeom prst="rect">
            <a:avLst/>
          </a:prstGeom>
        </p:spPr>
      </p:pic>
    </p:spTree>
    <p:extLst>
      <p:ext uri="{BB962C8B-B14F-4D97-AF65-F5344CB8AC3E}">
        <p14:creationId xmlns:p14="http://schemas.microsoft.com/office/powerpoint/2010/main" val="3088206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505AE-4DD1-6372-45B1-430BB60CE8A7}"/>
              </a:ext>
            </a:extLst>
          </p:cNvPr>
          <p:cNvSpPr>
            <a:spLocks noGrp="1"/>
          </p:cNvSpPr>
          <p:nvPr>
            <p:ph type="title"/>
          </p:nvPr>
        </p:nvSpPr>
        <p:spPr>
          <a:xfrm>
            <a:off x="838200" y="365125"/>
            <a:ext cx="6952488" cy="1325563"/>
          </a:xfrm>
        </p:spPr>
        <p:txBody>
          <a:bodyPr/>
          <a:lstStyle/>
          <a:p>
            <a:r>
              <a:rPr lang="en-IN" b="1" dirty="0"/>
              <a:t>Implementation / Prototype</a:t>
            </a:r>
          </a:p>
        </p:txBody>
      </p:sp>
      <p:sp>
        <p:nvSpPr>
          <p:cNvPr id="3" name="Content Placeholder 2">
            <a:extLst>
              <a:ext uri="{FF2B5EF4-FFF2-40B4-BE49-F238E27FC236}">
                <a16:creationId xmlns:a16="http://schemas.microsoft.com/office/drawing/2014/main" id="{0A7AD44D-59CA-E2AF-DB0F-17E08EA3518D}"/>
              </a:ext>
            </a:extLst>
          </p:cNvPr>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1. </a:t>
            </a:r>
            <a:r>
              <a:rPr lang="en-IN" sz="3200" dirty="0">
                <a:latin typeface="Times New Roman" panose="02020603050405020304" pitchFamily="18" charset="0"/>
                <a:cs typeface="Times New Roman" panose="02020603050405020304" pitchFamily="18" charset="0"/>
              </a:rPr>
              <a:t>Financial Dashboard</a:t>
            </a:r>
          </a:p>
          <a:p>
            <a:pPr lvl="1" algn="just"/>
            <a:r>
              <a:rPr lang="en-IN" dirty="0">
                <a:latin typeface="Times New Roman" panose="02020603050405020304" pitchFamily="18" charset="0"/>
                <a:cs typeface="Times New Roman" panose="02020603050405020304" pitchFamily="18" charset="0"/>
              </a:rPr>
              <a:t>Displays monthly income, budget, total expenses, remaining balance, and budget consumption percentage.</a:t>
            </a:r>
          </a:p>
          <a:p>
            <a:pPr algn="just"/>
            <a:r>
              <a:rPr lang="en-IN" dirty="0">
                <a:latin typeface="Times New Roman" panose="02020603050405020304" pitchFamily="18" charset="0"/>
                <a:cs typeface="Times New Roman" panose="02020603050405020304" pitchFamily="18" charset="0"/>
              </a:rPr>
              <a:t>2. </a:t>
            </a:r>
            <a:r>
              <a:rPr lang="en-IN" sz="3200" dirty="0">
                <a:latin typeface="Times New Roman" panose="02020603050405020304" pitchFamily="18" charset="0"/>
                <a:cs typeface="Times New Roman" panose="02020603050405020304" pitchFamily="18" charset="0"/>
              </a:rPr>
              <a:t>Expense Management</a:t>
            </a:r>
          </a:p>
          <a:p>
            <a:pPr lvl="1" algn="just"/>
            <a:r>
              <a:rPr lang="en-IN" dirty="0">
                <a:latin typeface="Times New Roman" panose="02020603050405020304" pitchFamily="18" charset="0"/>
                <a:cs typeface="Times New Roman" panose="02020603050405020304" pitchFamily="18" charset="0"/>
              </a:rPr>
              <a:t>Allows users to add expenses, select categories, enter amounts and dates, filter records, and delete entries.</a:t>
            </a:r>
          </a:p>
          <a:p>
            <a:pPr algn="just"/>
            <a:r>
              <a:rPr lang="en-IN" dirty="0">
                <a:latin typeface="Times New Roman" panose="02020603050405020304" pitchFamily="18" charset="0"/>
                <a:cs typeface="Times New Roman" panose="02020603050405020304" pitchFamily="18" charset="0"/>
              </a:rPr>
              <a:t>3</a:t>
            </a:r>
            <a:r>
              <a:rPr lang="en-IN" sz="3200" dirty="0">
                <a:latin typeface="Times New Roman" panose="02020603050405020304" pitchFamily="18" charset="0"/>
                <a:cs typeface="Times New Roman" panose="02020603050405020304" pitchFamily="18" charset="0"/>
              </a:rPr>
              <a:t>. Budget Analysis</a:t>
            </a:r>
          </a:p>
          <a:p>
            <a:pPr lvl="1" algn="just"/>
            <a:r>
              <a:rPr lang="en-IN" dirty="0">
                <a:latin typeface="Times New Roman" panose="02020603050405020304" pitchFamily="18" charset="0"/>
                <a:cs typeface="Times New Roman" panose="02020603050405020304" pitchFamily="18" charset="0"/>
              </a:rPr>
              <a:t>Displays category-wise spending and indicates whether spending is within, equal to, or above the budget.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1836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4578-67B4-0436-E006-9F8528264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082C1-8FB6-4E92-B850-638477F4D2CD}"/>
              </a:ext>
            </a:extLst>
          </p:cNvPr>
          <p:cNvSpPr>
            <a:spLocks noGrp="1"/>
          </p:cNvSpPr>
          <p:nvPr>
            <p:ph type="title"/>
          </p:nvPr>
        </p:nvSpPr>
        <p:spPr>
          <a:xfrm>
            <a:off x="2932176" y="417618"/>
            <a:ext cx="6915912" cy="822960"/>
          </a:xfrm>
        </p:spPr>
        <p:txBody>
          <a:bodyPr>
            <a:normAutofit fontScale="90000"/>
          </a:bodyPr>
          <a:lstStyle/>
          <a:p>
            <a:r>
              <a:rPr lang="en-IN" b="1" dirty="0">
                <a:latin typeface="Times New Roman" panose="02020603050405020304" pitchFamily="18" charset="0"/>
                <a:cs typeface="Times New Roman" panose="02020603050405020304" pitchFamily="18" charset="0"/>
              </a:rPr>
              <a:t>Conclusion and Future Scope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075B78-811A-D7A5-58F3-456A4B93EF42}"/>
              </a:ext>
            </a:extLst>
          </p:cNvPr>
          <p:cNvSpPr>
            <a:spLocks noGrp="1"/>
          </p:cNvSpPr>
          <p:nvPr>
            <p:ph idx="1"/>
          </p:nvPr>
        </p:nvSpPr>
        <p:spPr>
          <a:xfrm>
            <a:off x="609600" y="1097280"/>
            <a:ext cx="10515600" cy="4851083"/>
          </a:xfrm>
        </p:spPr>
        <p:txBody>
          <a:bodyPr>
            <a:normAutofit fontScale="77500" lnSpcReduction="20000"/>
          </a:bodyPr>
          <a:lstStyle/>
          <a:p>
            <a:pPr algn="just">
              <a:buNone/>
            </a:pPr>
            <a:r>
              <a:rPr lang="en-IN" b="1" dirty="0">
                <a:latin typeface="Times New Roman" panose="02020603050405020304" pitchFamily="18" charset="0"/>
                <a:cs typeface="Times New Roman" panose="02020603050405020304" pitchFamily="18" charset="0"/>
              </a:rPr>
              <a:t>Conclusion</a:t>
            </a:r>
          </a:p>
          <a:p>
            <a:pPr algn="just">
              <a:lnSpc>
                <a:spcPct val="120000"/>
              </a:lnSpc>
              <a:buNone/>
            </a:pPr>
            <a:r>
              <a:rPr lang="en-IN" dirty="0">
                <a:latin typeface="Times New Roman" panose="02020603050405020304" pitchFamily="18" charset="0"/>
                <a:cs typeface="Times New Roman" panose="02020603050405020304" pitchFamily="18" charset="0"/>
              </a:rPr>
              <a:t>The Monthly Expense &amp; Budget Analyzer provides a simple way to record expenses, monitor monthly spending, and evaluate budget utilization. It demonstrates practical applications of Java programming, web development, HTTP APIs, data processing, and conditional logic. The dashboard makes financial information easier to understand and supports more informed spending decisions.</a:t>
            </a:r>
          </a:p>
          <a:p>
            <a:pPr algn="just">
              <a:buNone/>
            </a:pPr>
            <a:r>
              <a:rPr lang="en-IN" b="1" dirty="0">
                <a:latin typeface="Times New Roman" panose="02020603050405020304" pitchFamily="18" charset="0"/>
                <a:cs typeface="Times New Roman" panose="02020603050405020304" pitchFamily="18" charset="0"/>
              </a:rPr>
              <a:t>Future Scope</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Integrate a database such as MySQL or PostgreSQL for persistent storage.</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Add user authentication and individual financial accounts.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 monthly reports and PDF/Excel exports.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Provide spending trends and graphical analytics.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Add savings goals, recurring expenses, and notifications.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Develop a mobile-friendly application and deploy it online.</a:t>
            </a:r>
          </a:p>
          <a:p>
            <a:pPr algn="just"/>
            <a:endParaRPr lang="en-IN" dirty="0">
              <a:latin typeface="Times New Roman" panose="02020603050405020304" pitchFamily="18" charset="0"/>
              <a:cs typeface="Times New Roman" panose="02020603050405020304" pitchFamily="18" charset="0"/>
            </a:endParaRPr>
          </a:p>
        </p:txBody>
      </p:sp>
      <p:pic>
        <p:nvPicPr>
          <p:cNvPr id="5" name="Picture 4" descr="Best Private University in Telangana &amp; Andhra Pradesh | KLH Hyderabad">
            <a:extLst>
              <a:ext uri="{FF2B5EF4-FFF2-40B4-BE49-F238E27FC236}">
                <a16:creationId xmlns:a16="http://schemas.microsoft.com/office/drawing/2014/main" id="{A043AB7F-6FDF-E733-BEF0-01695C1F1568}"/>
              </a:ext>
            </a:extLst>
          </p:cNvPr>
          <p:cNvPicPr>
            <a:picLocks noChangeAspect="1"/>
          </p:cNvPicPr>
          <p:nvPr/>
        </p:nvPicPr>
        <p:blipFill>
          <a:blip r:embed="rId2"/>
          <a:stretch>
            <a:fillRect/>
          </a:stretch>
        </p:blipFill>
        <p:spPr>
          <a:xfrm>
            <a:off x="0" y="-429769"/>
            <a:ext cx="1682185" cy="1258867"/>
          </a:xfrm>
          <a:prstGeom prst="rect">
            <a:avLst/>
          </a:prstGeom>
        </p:spPr>
      </p:pic>
    </p:spTree>
    <p:extLst>
      <p:ext uri="{BB962C8B-B14F-4D97-AF65-F5344CB8AC3E}">
        <p14:creationId xmlns:p14="http://schemas.microsoft.com/office/powerpoint/2010/main" val="2448550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79A5E-5B18-2014-79D3-B719C27DDF83}"/>
            </a:ext>
          </a:extLst>
        </p:cNvPr>
        <p:cNvGrpSpPr/>
        <p:nvPr/>
      </p:nvGrpSpPr>
      <p:grpSpPr>
        <a:xfrm>
          <a:off x="0" y="0"/>
          <a:ext cx="0" cy="0"/>
          <a:chOff x="0" y="0"/>
          <a:chExt cx="0" cy="0"/>
        </a:xfrm>
      </p:grpSpPr>
      <p:pic>
        <p:nvPicPr>
          <p:cNvPr id="5" name="Picture 4" descr="Best Private University in Telangana &amp; Andhra Pradesh | KLH Hyderabad">
            <a:extLst>
              <a:ext uri="{FF2B5EF4-FFF2-40B4-BE49-F238E27FC236}">
                <a16:creationId xmlns:a16="http://schemas.microsoft.com/office/drawing/2014/main" id="{485975B7-0F17-D918-EBB1-23CDE644EB91}"/>
              </a:ext>
            </a:extLst>
          </p:cNvPr>
          <p:cNvPicPr>
            <a:picLocks noChangeAspect="1"/>
          </p:cNvPicPr>
          <p:nvPr/>
        </p:nvPicPr>
        <p:blipFill>
          <a:blip r:embed="rId2"/>
          <a:stretch>
            <a:fillRect/>
          </a:stretch>
        </p:blipFill>
        <p:spPr>
          <a:xfrm>
            <a:off x="0" y="-429769"/>
            <a:ext cx="1682185" cy="1258867"/>
          </a:xfrm>
          <a:prstGeom prst="rect">
            <a:avLst/>
          </a:prstGeom>
        </p:spPr>
      </p:pic>
      <p:sp>
        <p:nvSpPr>
          <p:cNvPr id="11" name="Title 10">
            <a:extLst>
              <a:ext uri="{FF2B5EF4-FFF2-40B4-BE49-F238E27FC236}">
                <a16:creationId xmlns:a16="http://schemas.microsoft.com/office/drawing/2014/main" id="{E2657722-09A4-6AE3-D31D-A9F2032504AD}"/>
              </a:ext>
            </a:extLst>
          </p:cNvPr>
          <p:cNvSpPr txBox="1">
            <a:spLocks noGrp="1"/>
          </p:cNvSpPr>
          <p:nvPr>
            <p:ph type="title"/>
          </p:nvPr>
        </p:nvSpPr>
        <p:spPr>
          <a:xfrm>
            <a:off x="3940556" y="2570015"/>
            <a:ext cx="4581960" cy="1012328"/>
          </a:xfrm>
          <a:prstGeom prst="rect">
            <a:avLst/>
          </a:prstGeom>
          <a:noFill/>
        </p:spPr>
        <p:txBody>
          <a:bodyPr wrap="none" rtlCol="0">
            <a:spAutoFit/>
          </a:bodyPr>
          <a:lstStyle/>
          <a:p>
            <a:r>
              <a:rPr lang="en-IN" sz="6600" dirty="0"/>
              <a:t>THANK  YOU</a:t>
            </a:r>
          </a:p>
        </p:txBody>
      </p:sp>
    </p:spTree>
    <p:extLst>
      <p:ext uri="{BB962C8B-B14F-4D97-AF65-F5344CB8AC3E}">
        <p14:creationId xmlns:p14="http://schemas.microsoft.com/office/powerpoint/2010/main" val="2662062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632</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Times New Roman</vt:lpstr>
      <vt:lpstr>Wingdings</vt:lpstr>
      <vt:lpstr>Office Theme</vt:lpstr>
      <vt:lpstr>MONTHLY EXPENSE
&amp; BUDGET ANALYZER </vt:lpstr>
      <vt:lpstr>Abstract</vt:lpstr>
      <vt:lpstr>Problem Statement</vt:lpstr>
      <vt:lpstr>Proposed Solution</vt:lpstr>
      <vt:lpstr>Objectives </vt:lpstr>
      <vt:lpstr>Methodology</vt:lpstr>
      <vt:lpstr>System Architecture / Workflow</vt:lpstr>
      <vt:lpstr>Implementation / Prototype</vt:lpstr>
      <vt:lpstr>Conclusion and Future Scope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Bheemavarapu Sandeep</dc:creator>
  <cp:lastModifiedBy>Bheemavarapu Sandeep</cp:lastModifiedBy>
  <cp:revision>1</cp:revision>
  <dcterms:created xsi:type="dcterms:W3CDTF">2026-10-15T11:39:00Z</dcterms:created>
  <dcterms:modified xsi:type="dcterms:W3CDTF">2026-10-15T13:22:39Z</dcterms:modified>
</cp:coreProperties>
</file>