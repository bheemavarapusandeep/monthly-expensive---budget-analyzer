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8" r:id="rId11"/>
    <p:sldId id="26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8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097280"/>
            <a:ext cx="4754880" cy="475488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554480" y="4846320"/>
            <a:ext cx="4114800" cy="411480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315468" y="-315849"/>
            <a:ext cx="11201400" cy="5806440"/>
          </a:xfrm>
          <a:prstGeom prst="roundRect">
            <a:avLst/>
          </a:prstGeom>
          <a:solidFill>
            <a:srgbClr val="131F34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0" y="87249"/>
            <a:ext cx="6583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400" b="1" dirty="0">
                <a:solidFill>
                  <a:srgbClr val="F5F8FC"/>
                </a:solidFill>
                <a:latin typeface="Aptos"/>
              </a:rPr>
              <a:t>MONTHLY EXPENSE
&amp; BUDGET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" y="3360708"/>
            <a:ext cx="612648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 dirty="0">
                <a:solidFill>
                  <a:srgbClr val="ABBBD0"/>
                </a:solidFill>
                <a:latin typeface="Aptos"/>
              </a:rPr>
              <a:t>Track spending • Monitor budgets • Make smarter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3933929"/>
            <a:ext cx="1444752" cy="384048"/>
          </a:xfrm>
          <a:prstGeom prst="round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4050791"/>
            <a:ext cx="1371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50" b="1">
                <a:solidFill>
                  <a:srgbClr val="F5F8FC"/>
                </a:solidFill>
                <a:latin typeface="Aptos"/>
              </a:rPr>
              <a:t>EXPENSE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977639"/>
            <a:ext cx="1444752" cy="384048"/>
          </a:xfrm>
          <a:prstGeom prst="roundRect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51176" y="4050791"/>
            <a:ext cx="1371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50" b="1">
                <a:solidFill>
                  <a:srgbClr val="F5F8FC"/>
                </a:solidFill>
                <a:latin typeface="Aptos"/>
              </a:rPr>
              <a:t>BUDGET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3977639"/>
            <a:ext cx="1444752" cy="384048"/>
          </a:xfrm>
          <a:prstGeom prst="roundRect">
            <a:avLst/>
          </a:prstGeom>
          <a:solidFill>
            <a:srgbClr val="F5BE4A"/>
          </a:solidFill>
          <a:ln>
            <a:solidFill>
              <a:srgbClr val="F5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4050791"/>
            <a:ext cx="137160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750" b="1">
                <a:solidFill>
                  <a:srgbClr val="F5F8FC"/>
                </a:solidFill>
                <a:latin typeface="Aptos"/>
              </a:rPr>
              <a:t>JAVA CONCEPTS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4404" y="1417320"/>
            <a:ext cx="3520440" cy="4297680"/>
          </a:xfrm>
          <a:prstGeom prst="roundRect">
            <a:avLst/>
          </a:prstGeom>
          <a:solidFill>
            <a:srgbClr val="131F34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01000" y="1828800"/>
            <a:ext cx="1325880" cy="685800"/>
          </a:xfrm>
          <a:prstGeom prst="roundRect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646920" y="1828800"/>
            <a:ext cx="1325880" cy="685800"/>
          </a:xfrm>
          <a:prstGeom prst="roundRect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2834640"/>
            <a:ext cx="1325880" cy="685800"/>
          </a:xfrm>
          <a:prstGeom prst="roundRect">
            <a:avLst/>
          </a:prstGeom>
          <a:solidFill>
            <a:srgbClr val="F5BE4A"/>
          </a:solidFill>
          <a:ln>
            <a:solidFill>
              <a:srgbClr val="F5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10058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ABBBD0"/>
                </a:solidFill>
                <a:latin typeface="Aptos"/>
              </a:rPr>
              <a:t>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213969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₹10,000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938528"/>
            <a:ext cx="8229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ABBBD0"/>
                </a:solidFill>
                <a:latin typeface="Aptos"/>
              </a:rPr>
              <a:t>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139696"/>
            <a:ext cx="100584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₹6,000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944368"/>
            <a:ext cx="82296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ABBBD0"/>
                </a:solidFill>
                <a:latin typeface="Aptos"/>
              </a:rPr>
              <a:t>SPENT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3145536"/>
            <a:ext cx="105156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₹4,000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749039"/>
            <a:ext cx="2286000" cy="228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Monthly overview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4663440"/>
            <a:ext cx="246888" cy="502920"/>
          </a:xfrm>
          <a:prstGeom prst="round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94776" y="4206240"/>
            <a:ext cx="246888" cy="960120"/>
          </a:xfrm>
          <a:prstGeom prst="roundRect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24544" y="4434840"/>
            <a:ext cx="246888" cy="731520"/>
          </a:xfrm>
          <a:prstGeom prst="roundRect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54312" y="3840480"/>
            <a:ext cx="246888" cy="1325880"/>
          </a:xfrm>
          <a:prstGeom prst="roundRect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84080" y="4114800"/>
            <a:ext cx="246888" cy="1051560"/>
          </a:xfrm>
          <a:prstGeom prst="roundRect">
            <a:avLst/>
          </a:prstGeom>
          <a:solidFill>
            <a:srgbClr val="F5BE4A"/>
          </a:solidFill>
          <a:ln>
            <a:solidFill>
              <a:srgbClr val="F5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213848" y="3566160"/>
            <a:ext cx="246888" cy="1600200"/>
          </a:xfrm>
          <a:prstGeom prst="roundRect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97764" y="4743726"/>
            <a:ext cx="6035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A practical Java application for understanding monthly spending and remaining budget.</a:t>
            </a:r>
          </a:p>
        </p:txBody>
      </p:sp>
      <p:pic>
        <p:nvPicPr>
          <p:cNvPr id="35" name="Picture 34" descr="Money Pro - Personal Finance Management, Budget, Expense Tracking - Android">
            <a:extLst>
              <a:ext uri="{FF2B5EF4-FFF2-40B4-BE49-F238E27FC236}">
                <a16:creationId xmlns:a16="http://schemas.microsoft.com/office/drawing/2014/main" id="{5AAD279B-9ACA-95A8-E098-C03BEE7E7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772" y="1776497"/>
            <a:ext cx="1545336" cy="28020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359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I</a:t>
            </a:r>
            <a:r>
              <a:rPr lang="en-US" dirty="0">
                <a:solidFill>
                  <a:srgbClr val="F5F8FC"/>
                </a:solidFill>
                <a:latin typeface="Aptos"/>
              </a:rPr>
              <a:t>ntroduction</a:t>
            </a:r>
            <a:r>
              <a:rPr dirty="0">
                <a:solidFill>
                  <a:srgbClr val="F5F8FC"/>
                </a:solidFill>
                <a:latin typeface="Aptos"/>
              </a:rPr>
              <a:t>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D3C"/>
                </a:solidFill>
                <a:latin typeface="Aptos"/>
              </a:defRPr>
            </a:pPr>
            <a:r>
              <a:rPr lang="en-US" b="1" dirty="0">
                <a:solidFill>
                  <a:srgbClr val="F5F8FC"/>
                </a:solidFill>
                <a:latin typeface="Aptos"/>
              </a:rPr>
              <a:t>Introduction:</a:t>
            </a:r>
            <a:endParaRPr b="1" dirty="0">
              <a:solidFill>
                <a:srgbClr val="F5F8FC"/>
              </a:solidFill>
              <a:latin typeface="Aptos"/>
            </a:endParaRP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A Java-based project for managing monthly expenses.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Helps users calculate total spending and remaining budget.</a:t>
            </a:r>
          </a:p>
          <a:p>
            <a:pPr>
              <a:spcAft>
                <a:spcPts val="1000"/>
              </a:spcAft>
              <a:defRPr sz="2000" b="0">
                <a:solidFill>
                  <a:srgbClr val="232D3C"/>
                </a:solidFill>
                <a:latin typeface="Aptos"/>
              </a:defRPr>
            </a:pPr>
            <a:r>
              <a:rPr lang="en-US" b="1" dirty="0">
                <a:solidFill>
                  <a:srgbClr val="F5F8FC"/>
                </a:solidFill>
                <a:latin typeface="Aptos"/>
              </a:rPr>
              <a:t>Objectives:</a:t>
            </a:r>
            <a:endParaRPr b="1" dirty="0">
              <a:solidFill>
                <a:srgbClr val="F5F8FC"/>
              </a:solidFill>
              <a:latin typeface="Aptos"/>
            </a:endParaRP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lang="en-US" dirty="0">
                <a:solidFill>
                  <a:srgbClr val="F5F8FC"/>
                </a:solidFill>
                <a:latin typeface="Aptos"/>
              </a:rPr>
              <a:t>Allow the user to enter monthly income and budget.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Calculate total expenses.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Track remaining budget.</a:t>
            </a: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Check whether the budget is exceeded.</a:t>
            </a:r>
            <a:endParaRPr lang="en-US" dirty="0">
              <a:solidFill>
                <a:srgbClr val="F5F8FC"/>
              </a:solidFill>
              <a:latin typeface="Aptos"/>
            </a:endParaRP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r>
              <a:rPr lang="en-IN" dirty="0">
                <a:solidFill>
                  <a:srgbClr val="F5F8FC"/>
                </a:solidFill>
                <a:latin typeface="Aptos"/>
              </a:rPr>
              <a:t>Java concepts : Variables, Scanner, Operator, and if-else condition.</a:t>
            </a:r>
            <a:endParaRPr dirty="0">
              <a:solidFill>
                <a:srgbClr val="F5F8FC"/>
              </a:solidFill>
              <a:latin typeface="Aptos"/>
            </a:endParaRPr>
          </a:p>
          <a:p>
            <a:pPr lvl="1">
              <a:spcAft>
                <a:spcPts val="1000"/>
              </a:spcAft>
              <a:defRPr sz="1700">
                <a:solidFill>
                  <a:srgbClr val="232D3C"/>
                </a:solidFill>
                <a:latin typeface="Aptos"/>
              </a:defRPr>
            </a:pPr>
            <a:endParaRPr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2/12</a:t>
            </a:r>
          </a:p>
        </p:txBody>
      </p:sp>
      <p:sp>
        <p:nvSpPr>
          <p:cNvPr id="7" name="Oval 6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-210312" y="-82296"/>
            <a:ext cx="594360" cy="59436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11750040" y="6304788"/>
            <a:ext cx="594360" cy="59436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9454896" y="-82296"/>
            <a:ext cx="594360" cy="59436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63040" y="6176772"/>
            <a:ext cx="594360" cy="594360"/>
          </a:xfrm>
          <a:prstGeom prst="ellipse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2/12</a:t>
            </a:r>
          </a:p>
        </p:txBody>
      </p:sp>
      <p:pic>
        <p:nvPicPr>
          <p:cNvPr id="17" name="Picture 16" descr="Fast Budget – Personal Finance Manager &amp; Expense Tracker App">
            <a:extLst>
              <a:ext uri="{FF2B5EF4-FFF2-40B4-BE49-F238E27FC236}">
                <a16:creationId xmlns:a16="http://schemas.microsoft.com/office/drawing/2014/main" id="{62BD986E-0C34-90C9-8161-61240B513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781" y="2654046"/>
            <a:ext cx="1504950" cy="30099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CO1 – Datatypes, Variables &amp;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lang="en-US" b="1" dirty="0">
                <a:solidFill>
                  <a:srgbClr val="F5F8FC"/>
                </a:solidFill>
                <a:latin typeface="Aptos"/>
              </a:rPr>
              <a:t>TOPICS</a:t>
            </a:r>
            <a:r>
              <a:rPr b="1" dirty="0">
                <a:solidFill>
                  <a:srgbClr val="F5F8FC"/>
                </a:solidFill>
                <a:latin typeface="Aptos"/>
              </a:rPr>
              <a:t>:</a:t>
            </a:r>
            <a:r>
              <a:rPr dirty="0">
                <a:solidFill>
                  <a:srgbClr val="F5F8FC"/>
                </a:solidFill>
                <a:latin typeface="Aptos"/>
              </a:rPr>
              <a:t> Variables, Datatypes and Operators</a:t>
            </a:r>
          </a:p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Store budget and expenses using the double datatype.</a:t>
            </a:r>
          </a:p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Use arithmetic operators for calculations.</a:t>
            </a:r>
          </a:p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Formula: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803904"/>
            <a:ext cx="10149840" cy="1051560"/>
          </a:xfrm>
          <a:prstGeom prst="roundRect">
            <a:avLst/>
          </a:prstGeom>
          <a:solidFill>
            <a:schemeClr val="tx1"/>
          </a:solidFill>
          <a:ln>
            <a:solidFill>
              <a:srgbClr val="26A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000000"/>
              </a:highligh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38953" y="4023360"/>
            <a:ext cx="688361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82B4D"/>
                </a:solidFill>
                <a:latin typeface="Aptos Display"/>
              </a:defRPr>
            </a:pPr>
            <a:r>
              <a:rPr lang="en-US" dirty="0">
                <a:solidFill>
                  <a:srgbClr val="F5F8FC"/>
                </a:solidFill>
                <a:highlight>
                  <a:srgbClr val="000000"/>
                </a:highlight>
                <a:latin typeface="Aptos"/>
              </a:rPr>
              <a:t>r</a:t>
            </a:r>
            <a:r>
              <a:rPr dirty="0">
                <a:solidFill>
                  <a:srgbClr val="F5F8FC"/>
                </a:solidFill>
                <a:highlight>
                  <a:srgbClr val="000000"/>
                </a:highlight>
                <a:latin typeface="Aptos"/>
              </a:rPr>
              <a:t>emaining</a:t>
            </a:r>
            <a:r>
              <a:rPr dirty="0">
                <a:solidFill>
                  <a:srgbClr val="F5F8FC"/>
                </a:solidFill>
                <a:latin typeface="Aptos"/>
              </a:rPr>
              <a:t> </a:t>
            </a:r>
            <a:r>
              <a:rPr dirty="0">
                <a:solidFill>
                  <a:srgbClr val="F5F8FC"/>
                </a:solidFill>
                <a:highlight>
                  <a:srgbClr val="000000"/>
                </a:highlight>
                <a:latin typeface="Aptos"/>
              </a:rPr>
              <a:t>Budget</a:t>
            </a:r>
            <a:r>
              <a:rPr dirty="0">
                <a:solidFill>
                  <a:srgbClr val="F5F8FC"/>
                </a:solidFill>
                <a:latin typeface="Aptos"/>
              </a:rPr>
              <a:t> </a:t>
            </a:r>
            <a:r>
              <a:rPr dirty="0">
                <a:solidFill>
                  <a:srgbClr val="F5F8FC"/>
                </a:solidFill>
                <a:highlight>
                  <a:srgbClr val="000000"/>
                </a:highlight>
                <a:latin typeface="Aptos"/>
              </a:rPr>
              <a:t>=</a:t>
            </a:r>
            <a:r>
              <a:rPr dirty="0">
                <a:solidFill>
                  <a:srgbClr val="F5F8FC"/>
                </a:solidFill>
                <a:latin typeface="Aptos"/>
              </a:rPr>
              <a:t> </a:t>
            </a:r>
            <a:r>
              <a:rPr dirty="0">
                <a:solidFill>
                  <a:srgbClr val="F5F8FC"/>
                </a:solidFill>
                <a:highlight>
                  <a:srgbClr val="000000"/>
                </a:highlight>
                <a:latin typeface="Aptos"/>
              </a:rPr>
              <a:t>Budget − Total Expenses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3/12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25128" y="6227064"/>
            <a:ext cx="2953512" cy="246888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CO1 – Code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744200" cy="3200400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600200"/>
            <a:ext cx="10241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double budget = 10000;</a:t>
            </a:r>
            <a:br/>
            <a:r>
              <a:rPr>
                <a:solidFill>
                  <a:srgbClr val="F5F8FC"/>
                </a:solidFill>
                <a:latin typeface="Aptos"/>
              </a:rPr>
              <a:t>double food = 2500;</a:t>
            </a:r>
            <a:br/>
            <a:r>
              <a:rPr>
                <a:solidFill>
                  <a:srgbClr val="F5F8FC"/>
                </a:solidFill>
                <a:latin typeface="Aptos"/>
              </a:rPr>
              <a:t>double travel = 1500;</a:t>
            </a:r>
            <a:br/>
            <a:br/>
            <a:r>
              <a:rPr>
                <a:solidFill>
                  <a:srgbClr val="F5F8FC"/>
                </a:solidFill>
                <a:latin typeface="Aptos"/>
              </a:rPr>
              <a:t>double total = food + travel;</a:t>
            </a:r>
            <a:br/>
            <a:r>
              <a:rPr>
                <a:solidFill>
                  <a:srgbClr val="F5F8FC"/>
                </a:solidFill>
                <a:latin typeface="Aptos"/>
              </a:rPr>
              <a:t>double remaining = budget - total;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006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double stores expense values.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+ calculates the total.</a:t>
            </a:r>
          </a:p>
          <a:p>
            <a:pPr>
              <a:spcAft>
                <a:spcPts val="1000"/>
              </a:spcAft>
              <a:defRPr sz="1700" b="0">
                <a:solidFill>
                  <a:srgbClr val="232D3C"/>
                </a:solidFill>
                <a:latin typeface="Apto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− calculates the remaining budget.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1188720" y="534924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6558480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CO2 – Conditional Statements &amp;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9848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lang="en-US" b="1" dirty="0">
                <a:solidFill>
                  <a:srgbClr val="F5F8FC"/>
                </a:solidFill>
                <a:latin typeface="Aptos"/>
              </a:rPr>
              <a:t>TOPICS</a:t>
            </a:r>
            <a:r>
              <a:rPr b="1" dirty="0">
                <a:solidFill>
                  <a:srgbClr val="F5F8FC"/>
                </a:solidFill>
                <a:latin typeface="Aptos"/>
              </a:rPr>
              <a:t>:</a:t>
            </a:r>
            <a:r>
              <a:rPr dirty="0">
                <a:solidFill>
                  <a:srgbClr val="F5F8FC"/>
                </a:solidFill>
                <a:latin typeface="Aptos"/>
              </a:rPr>
              <a:t> if-else and for loop</a:t>
            </a:r>
          </a:p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A loop accepts multiple expenses.</a:t>
            </a:r>
          </a:p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if-else checks whether the budget is exceeded.</a:t>
            </a:r>
          </a:p>
          <a:p>
            <a:pPr>
              <a:spcAft>
                <a:spcPts val="1000"/>
              </a:spcAft>
              <a:defRPr sz="21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Conditional statement: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10744200" cy="1828800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3840480"/>
            <a:ext cx="10241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if (total &gt; budget) {</a:t>
            </a:r>
            <a:br/>
            <a:r>
              <a:rPr>
                <a:solidFill>
                  <a:srgbClr val="F5F8FC"/>
                </a:solidFill>
                <a:latin typeface="Aptos"/>
              </a:rPr>
              <a:t>    System.out.println("Budget Exceeded");</a:t>
            </a:r>
            <a:br/>
            <a:r>
              <a:rPr>
                <a:solidFill>
                  <a:srgbClr val="F5F8FC"/>
                </a:solidFill>
                <a:latin typeface="Aptos"/>
              </a:rPr>
              <a:t>} else {</a:t>
            </a:r>
            <a:br/>
            <a:r>
              <a:rPr>
                <a:solidFill>
                  <a:srgbClr val="F5F8FC"/>
                </a:solidFill>
                <a:latin typeface="Aptos"/>
              </a:rPr>
              <a:t>    System.out.println("Budget Within Limit");</a:t>
            </a:r>
            <a:br/>
            <a:r>
              <a:rPr>
                <a:solidFill>
                  <a:srgbClr val="F5F8FC"/>
                </a:solidFill>
                <a:latin typeface="Aptos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5/12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5/12</a:t>
            </a:r>
          </a:p>
        </p:txBody>
      </p:sp>
      <p:pic>
        <p:nvPicPr>
          <p:cNvPr id="14" name="Picture 13" descr="2,194 Tight Budget Royalty-Free Images, Stock Photos &amp; Pictures |  Shutterstock">
            <a:extLst>
              <a:ext uri="{FF2B5EF4-FFF2-40B4-BE49-F238E27FC236}">
                <a16:creationId xmlns:a16="http://schemas.microsoft.com/office/drawing/2014/main" id="{4D26CE9C-8223-F832-39DC-0731E0403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496" y="3660439"/>
            <a:ext cx="2860336" cy="18933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CO3 – Methods &amp;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98480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b="1" dirty="0">
                <a:solidFill>
                  <a:srgbClr val="F5F8FC"/>
                </a:solidFill>
                <a:latin typeface="Aptos"/>
              </a:rPr>
              <a:t>T</a:t>
            </a:r>
            <a:r>
              <a:rPr lang="en-US" b="1" dirty="0">
                <a:solidFill>
                  <a:srgbClr val="F5F8FC"/>
                </a:solidFill>
                <a:latin typeface="Aptos"/>
              </a:rPr>
              <a:t>opics</a:t>
            </a:r>
            <a:r>
              <a:rPr dirty="0">
                <a:solidFill>
                  <a:srgbClr val="F5F8FC"/>
                </a:solidFill>
                <a:latin typeface="Aptos"/>
              </a:rPr>
              <a:t>: Methods, 1D Arrays and 2D Arrays</a:t>
            </a:r>
          </a:p>
          <a:p>
            <a:pPr>
              <a:spcAft>
                <a:spcPts val="10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Methods calculate total expenses.</a:t>
            </a:r>
          </a:p>
          <a:p>
            <a:pPr>
              <a:spcAft>
                <a:spcPts val="10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1D arrays store expense values.</a:t>
            </a:r>
          </a:p>
          <a:p>
            <a:pPr>
              <a:spcAft>
                <a:spcPts val="10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2D arrays store monthly expense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10744200" cy="1143000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4160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double[] expenses = {2500, 1500, 1000};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6/12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" y="-132588"/>
            <a:ext cx="594360" cy="59436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11750040" y="6263640"/>
            <a:ext cx="594360" cy="59436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14300" y="0"/>
            <a:ext cx="594360" cy="59436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894515" y="6396228"/>
            <a:ext cx="594360" cy="594360"/>
          </a:xfrm>
          <a:prstGeom prst="ellipse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60022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lang="en-US" dirty="0">
                <a:solidFill>
                  <a:srgbClr val="F5F8FC"/>
                </a:solidFill>
                <a:latin typeface="Aptos"/>
              </a:rPr>
              <a:t>        CO3 </a:t>
            </a:r>
            <a:r>
              <a:rPr dirty="0">
                <a:solidFill>
                  <a:srgbClr val="F5F8FC"/>
                </a:solidFill>
                <a:latin typeface="Aptos"/>
              </a:rPr>
              <a:t>– Code &amp; Combined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744200" cy="3474720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1024128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rPr>
                <a:solidFill>
                  <a:srgbClr val="F5F8FC"/>
                </a:solidFill>
                <a:latin typeface="Aptos"/>
              </a:rPr>
              <a:t>static double calculateTotal(double[] expenses) {</a:t>
            </a:r>
            <a:br/>
            <a:r>
              <a:rPr>
                <a:solidFill>
                  <a:srgbClr val="F5F8FC"/>
                </a:solidFill>
                <a:latin typeface="Aptos"/>
              </a:rPr>
              <a:t>    double total = 0;</a:t>
            </a:r>
            <a:br/>
            <a:br/>
            <a:r>
              <a:rPr>
                <a:solidFill>
                  <a:srgbClr val="F5F8FC"/>
                </a:solidFill>
                <a:latin typeface="Aptos"/>
              </a:rPr>
              <a:t>    for (int i = 0; i &lt; expenses.length; i++) {</a:t>
            </a:r>
            <a:br/>
            <a:r>
              <a:rPr>
                <a:solidFill>
                  <a:srgbClr val="F5F8FC"/>
                </a:solidFill>
                <a:latin typeface="Aptos"/>
              </a:rPr>
              <a:t>        total += expenses[i];</a:t>
            </a:r>
            <a:br/>
            <a:r>
              <a:rPr>
                <a:solidFill>
                  <a:srgbClr val="F5F8FC"/>
                </a:solidFill>
                <a:latin typeface="Aptos"/>
              </a:rPr>
              <a:t>    }</a:t>
            </a:r>
            <a:br/>
            <a:br/>
            <a:r>
              <a:rPr>
                <a:solidFill>
                  <a:srgbClr val="F5F8FC"/>
                </a:solidFill>
                <a:latin typeface="Aptos"/>
              </a:rPr>
              <a:t>    return total;</a:t>
            </a:r>
            <a:br/>
            <a:r>
              <a:rPr>
                <a:solidFill>
                  <a:srgbClr val="F5F8FC"/>
                </a:solidFill>
                <a:latin typeface="Apto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CO1: Variables and operators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CO2: Conditions and loops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CO3: Methods and arrays</a:t>
            </a:r>
          </a:p>
          <a:p>
            <a:pPr>
              <a:spcAft>
                <a:spcPts val="1000"/>
              </a:spcAft>
              <a:defRPr sz="16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All concepts combine into one project.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7/12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72600" y="6117336"/>
            <a:ext cx="2377440" cy="393192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-91440" y="-132588"/>
            <a:ext cx="594360" cy="59436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82880" y="-297180"/>
            <a:ext cx="594360" cy="59436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649456" y="6341364"/>
            <a:ext cx="594360" cy="59436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823192" y="6510528"/>
            <a:ext cx="594360" cy="594360"/>
          </a:xfrm>
          <a:prstGeom prst="ellipse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2874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t>CO4 – Objects &amp; OOP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sz="1700"/>
              <a:t>TOPICS: Classes, Objects and OOP Principles</a:t>
            </a:r>
          </a:p>
          <a:p>
            <a:pPr>
              <a:spcAft>
                <a:spcPts val="300"/>
              </a:spcAft>
            </a:pPr>
            <a:r>
              <a:rPr sz="1700"/>
              <a:t>• A class defines the data and behaviour of an expense.</a:t>
            </a:r>
          </a:p>
          <a:p>
            <a:pPr>
              <a:spcAft>
                <a:spcPts val="300"/>
              </a:spcAft>
            </a:pPr>
            <a:r>
              <a:rPr sz="1700"/>
              <a:t>• Objects represent expenses such as Food or Travel.</a:t>
            </a:r>
          </a:p>
          <a:p>
            <a:pPr>
              <a:spcAft>
                <a:spcPts val="300"/>
              </a:spcAft>
            </a:pPr>
            <a:r>
              <a:rPr sz="1700"/>
              <a:t>• Encapsulation keeps data and methods together.</a:t>
            </a:r>
          </a:p>
          <a:p>
            <a:pPr>
              <a:spcAft>
                <a:spcPts val="300"/>
              </a:spcAft>
            </a:pPr>
            <a:r>
              <a:rPr sz="1700"/>
              <a:t>• Inheritance, polymorphism and abstraction support reusable design.</a:t>
            </a:r>
          </a:p>
          <a:p>
            <a:pPr>
              <a:spcAft>
                <a:spcPts val="300"/>
              </a:spcAft>
            </a:pPr>
            <a:endParaRPr sz="1700"/>
          </a:p>
          <a:p>
            <a:pPr>
              <a:spcAft>
                <a:spcPts val="300"/>
              </a:spcAft>
            </a:pPr>
            <a:r>
              <a:rPr sz="1700"/>
              <a:t>Key idea: private fields are accessed through methods.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152144"/>
            <a:ext cx="4572000" cy="3968495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06440" y="1417320"/>
            <a:ext cx="5669280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rPr sz="1500" dirty="0"/>
              <a:t>class Expense {</a:t>
            </a:r>
          </a:p>
          <a:p>
            <a:pPr>
              <a:spcAft>
                <a:spcPts val="300"/>
              </a:spcAft>
            </a:pPr>
            <a:r>
              <a:rPr sz="1500" dirty="0"/>
              <a:t>    </a:t>
            </a:r>
            <a:r>
              <a:rPr sz="1500" dirty="0">
                <a:solidFill>
                  <a:schemeClr val="bg1"/>
                </a:solidFill>
              </a:rPr>
              <a:t>private String category;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private double amount;</a:t>
            </a:r>
          </a:p>
          <a:p>
            <a:pPr>
              <a:spcAft>
                <a:spcPts val="300"/>
              </a:spcAft>
            </a:pPr>
            <a:endParaRPr sz="15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Expense(String category, double amount) {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    </a:t>
            </a:r>
            <a:r>
              <a:rPr sz="1500" dirty="0" err="1">
                <a:solidFill>
                  <a:schemeClr val="bg1"/>
                </a:solidFill>
              </a:rPr>
              <a:t>this.category</a:t>
            </a:r>
            <a:r>
              <a:rPr sz="1500" dirty="0">
                <a:solidFill>
                  <a:schemeClr val="bg1"/>
                </a:solidFill>
              </a:rPr>
              <a:t> = category;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    </a:t>
            </a:r>
            <a:r>
              <a:rPr sz="1500" dirty="0" err="1">
                <a:solidFill>
                  <a:schemeClr val="bg1"/>
                </a:solidFill>
              </a:rPr>
              <a:t>this.amount</a:t>
            </a:r>
            <a:r>
              <a:rPr sz="1500" dirty="0">
                <a:solidFill>
                  <a:schemeClr val="bg1"/>
                </a:solidFill>
              </a:rPr>
              <a:t> = amount;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}</a:t>
            </a:r>
          </a:p>
          <a:p>
            <a:pPr>
              <a:spcAft>
                <a:spcPts val="300"/>
              </a:spcAft>
            </a:pPr>
            <a:endParaRPr sz="15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double </a:t>
            </a:r>
            <a:r>
              <a:rPr sz="1500" dirty="0" err="1">
                <a:solidFill>
                  <a:schemeClr val="bg1"/>
                </a:solidFill>
              </a:rPr>
              <a:t>getAmount</a:t>
            </a:r>
            <a:r>
              <a:rPr sz="1500" dirty="0">
                <a:solidFill>
                  <a:schemeClr val="bg1"/>
                </a:solidFill>
              </a:rPr>
              <a:t>() { return amount; }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String </a:t>
            </a:r>
            <a:r>
              <a:rPr sz="1500" dirty="0" err="1">
                <a:solidFill>
                  <a:schemeClr val="bg1"/>
                </a:solidFill>
              </a:rPr>
              <a:t>getCategory</a:t>
            </a:r>
            <a:r>
              <a:rPr sz="1500" dirty="0">
                <a:solidFill>
                  <a:schemeClr val="bg1"/>
                </a:solidFill>
              </a:rPr>
              <a:t>() { return category; }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8/12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129845" y="-132588"/>
            <a:ext cx="594360" cy="59436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Oval 14"/>
          <p:cNvSpPr/>
          <p:nvPr/>
        </p:nvSpPr>
        <p:spPr>
          <a:xfrm>
            <a:off x="11894515" y="6560820"/>
            <a:ext cx="594360" cy="59436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297180" y="-297180"/>
            <a:ext cx="594360" cy="594360"/>
          </a:xfrm>
          <a:prstGeom prst="ellipse">
            <a:avLst/>
          </a:prstGeom>
          <a:solidFill>
            <a:srgbClr val="9061FF"/>
          </a:solidFill>
          <a:ln>
            <a:solidFill>
              <a:srgbClr val="90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795760" y="6473952"/>
            <a:ext cx="594360" cy="594360"/>
          </a:xfrm>
          <a:prstGeom prst="ellipse">
            <a:avLst/>
          </a:prstGeom>
          <a:solidFill>
            <a:srgbClr val="46CD87"/>
          </a:solidFill>
          <a:ln>
            <a:solidFill>
              <a:srgbClr val="46CD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dirty="0">
                <a:latin typeface="Aptos"/>
              </a:rPr>
              <a:t>CO5 – Strings &amp; File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sz="1700" dirty="0"/>
              <a:t>TOPICS: Strings &amp; File Handling</a:t>
            </a:r>
          </a:p>
          <a:p>
            <a:pPr>
              <a:spcAft>
                <a:spcPts val="300"/>
              </a:spcAft>
            </a:pPr>
            <a:r>
              <a:rPr sz="1700" dirty="0"/>
              <a:t>• Strings store category names and descriptions.</a:t>
            </a:r>
          </a:p>
          <a:p>
            <a:pPr>
              <a:spcAft>
                <a:spcPts val="300"/>
              </a:spcAft>
            </a:pPr>
            <a:r>
              <a:rPr sz="1700" dirty="0"/>
              <a:t>• String methods can validate or format input.</a:t>
            </a:r>
          </a:p>
          <a:p>
            <a:pPr>
              <a:spcAft>
                <a:spcPts val="300"/>
              </a:spcAft>
            </a:pPr>
            <a:r>
              <a:rPr sz="1700" dirty="0"/>
              <a:t>• File handling saves expense details for later use.</a:t>
            </a:r>
          </a:p>
          <a:p>
            <a:pPr>
              <a:spcAft>
                <a:spcPts val="300"/>
              </a:spcAft>
            </a:pPr>
            <a:r>
              <a:rPr sz="1700" dirty="0"/>
              <a:t>• Files can be read back to display saved records.</a:t>
            </a:r>
          </a:p>
          <a:p>
            <a:pPr>
              <a:spcAft>
                <a:spcPts val="300"/>
              </a:spcAft>
            </a:pPr>
            <a:endParaRPr sz="1700" dirty="0"/>
          </a:p>
          <a:p>
            <a:pPr>
              <a:spcAft>
                <a:spcPts val="300"/>
              </a:spcAft>
            </a:pPr>
            <a:r>
              <a:rPr sz="1700" dirty="0" err="1"/>
              <a:t>FileWriter</a:t>
            </a:r>
            <a:r>
              <a:rPr sz="1700" dirty="0"/>
              <a:t> writes data; </a:t>
            </a:r>
            <a:r>
              <a:rPr sz="1700" dirty="0" err="1"/>
              <a:t>IOException</a:t>
            </a:r>
            <a:r>
              <a:rPr sz="1700" dirty="0"/>
              <a:t> handles writing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31536" y="1325880"/>
            <a:ext cx="4489704" cy="3044953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737860" y="1499616"/>
            <a:ext cx="5669280" cy="2593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rPr sz="1400" dirty="0"/>
              <a:t>String category = "Food";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double amount = 2500.0;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String record = category + "," + amount;</a:t>
            </a:r>
          </a:p>
          <a:p>
            <a:pPr>
              <a:spcAft>
                <a:spcPts val="300"/>
              </a:spcAft>
            </a:pPr>
            <a:endParaRPr sz="14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try (</a:t>
            </a:r>
            <a:r>
              <a:rPr sz="1400" dirty="0" err="1">
                <a:solidFill>
                  <a:schemeClr val="bg1"/>
                </a:solidFill>
              </a:rPr>
              <a:t>FileWriter</a:t>
            </a:r>
            <a:r>
              <a:rPr sz="1400" dirty="0">
                <a:solidFill>
                  <a:schemeClr val="bg1"/>
                </a:solidFill>
              </a:rPr>
              <a:t> writer =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        new </a:t>
            </a:r>
            <a:r>
              <a:rPr sz="1400" dirty="0" err="1">
                <a:solidFill>
                  <a:schemeClr val="bg1"/>
                </a:solidFill>
              </a:rPr>
              <a:t>FileWriter</a:t>
            </a:r>
            <a:r>
              <a:rPr sz="1400" dirty="0">
                <a:solidFill>
                  <a:schemeClr val="bg1"/>
                </a:solidFill>
              </a:rPr>
              <a:t>("expenses.txt", true)) {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    </a:t>
            </a:r>
            <a:r>
              <a:rPr sz="1400" dirty="0" err="1">
                <a:solidFill>
                  <a:schemeClr val="bg1"/>
                </a:solidFill>
              </a:rPr>
              <a:t>writer.write</a:t>
            </a:r>
            <a:r>
              <a:rPr sz="1400" dirty="0">
                <a:solidFill>
                  <a:schemeClr val="bg1"/>
                </a:solidFill>
              </a:rPr>
              <a:t>(record + </a:t>
            </a:r>
            <a:r>
              <a:rPr sz="1400" dirty="0" err="1">
                <a:solidFill>
                  <a:schemeClr val="bg1"/>
                </a:solidFill>
              </a:rPr>
              <a:t>System.lineSeparator</a:t>
            </a:r>
            <a:r>
              <a:rPr sz="1400" dirty="0">
                <a:solidFill>
                  <a:schemeClr val="bg1"/>
                </a:solidFill>
              </a:rPr>
              <a:t>());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} catch (</a:t>
            </a:r>
            <a:r>
              <a:rPr sz="1400" dirty="0" err="1">
                <a:solidFill>
                  <a:schemeClr val="bg1"/>
                </a:solidFill>
              </a:rPr>
              <a:t>IOException</a:t>
            </a:r>
            <a:r>
              <a:rPr sz="1400" dirty="0">
                <a:solidFill>
                  <a:schemeClr val="bg1"/>
                </a:solidFill>
              </a:rPr>
              <a:t> e) {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    </a:t>
            </a:r>
            <a:r>
              <a:rPr sz="1400" dirty="0" err="1">
                <a:solidFill>
                  <a:schemeClr val="bg1"/>
                </a:solidFill>
              </a:rPr>
              <a:t>System.out.println</a:t>
            </a:r>
            <a:r>
              <a:rPr sz="1400" dirty="0">
                <a:solidFill>
                  <a:schemeClr val="bg1"/>
                </a:solidFill>
              </a:rPr>
              <a:t>("Unable to save expense");</a:t>
            </a:r>
          </a:p>
          <a:p>
            <a:pPr>
              <a:spcAft>
                <a:spcPts val="300"/>
              </a:spcAft>
            </a:pPr>
            <a:r>
              <a:rPr sz="14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9/12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D"/>
                </a:solidFill>
                <a:latin typeface="Aptos Display"/>
              </a:defRPr>
            </a:pPr>
            <a:r>
              <a:rPr dirty="0">
                <a:latin typeface="Aptos"/>
              </a:rPr>
              <a:t>CO6 – Collections &amp;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367" y="987552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sz="1700"/>
              <a:t>TOPICS: Collections &amp; Stream API</a:t>
            </a:r>
          </a:p>
          <a:p>
            <a:pPr>
              <a:spcAft>
                <a:spcPts val="300"/>
              </a:spcAft>
            </a:pPr>
            <a:r>
              <a:rPr sz="1700"/>
              <a:t>• ArrayList stores a flexible list of expense amounts or objects.</a:t>
            </a:r>
          </a:p>
          <a:p>
            <a:pPr>
              <a:spcAft>
                <a:spcPts val="300"/>
              </a:spcAft>
            </a:pPr>
            <a:r>
              <a:rPr sz="1700"/>
              <a:t>• Collections help manage multiple records.</a:t>
            </a:r>
          </a:p>
          <a:p>
            <a:pPr>
              <a:spcAft>
                <a:spcPts val="300"/>
              </a:spcAft>
            </a:pPr>
            <a:r>
              <a:rPr sz="1700"/>
              <a:t>• Streams process data without manual loops.</a:t>
            </a:r>
          </a:p>
          <a:p>
            <a:pPr>
              <a:spcAft>
                <a:spcPts val="300"/>
              </a:spcAft>
            </a:pPr>
            <a:r>
              <a:rPr sz="1700"/>
              <a:t>• Filtering and summing help analyze spending.</a:t>
            </a:r>
          </a:p>
          <a:p>
            <a:pPr>
              <a:spcAft>
                <a:spcPts val="300"/>
              </a:spcAft>
            </a:pPr>
            <a:endParaRPr sz="1700"/>
          </a:p>
          <a:p>
            <a:pPr>
              <a:spcAft>
                <a:spcPts val="300"/>
              </a:spcAft>
            </a:pPr>
            <a:r>
              <a:rPr sz="1700"/>
              <a:t>mapToDouble() supports numeric calculations; sum() returns total spending.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50433" y="786384"/>
            <a:ext cx="4856607" cy="4663441"/>
          </a:xfrm>
          <a:prstGeom prst="roundRect">
            <a:avLst/>
          </a:prstGeom>
          <a:solidFill>
            <a:srgbClr val="182B4D"/>
          </a:solidFill>
          <a:ln>
            <a:solidFill>
              <a:srgbClr val="2A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97880" y="1781227"/>
            <a:ext cx="5669280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FFFFFF"/>
                </a:solidFill>
                <a:latin typeface="Consolas"/>
              </a:defRPr>
            </a:pPr>
            <a:r>
              <a:rPr sz="1500" dirty="0" err="1"/>
              <a:t>ArrayList</a:t>
            </a:r>
            <a:r>
              <a:rPr sz="1500" dirty="0"/>
              <a:t>&lt;Double&gt; expenses = new </a:t>
            </a:r>
            <a:r>
              <a:rPr sz="1500" dirty="0" err="1"/>
              <a:t>ArrayList</a:t>
            </a:r>
            <a:r>
              <a:rPr sz="1500" dirty="0"/>
              <a:t>&lt;&gt;();</a:t>
            </a:r>
          </a:p>
          <a:p>
            <a:pPr>
              <a:spcAft>
                <a:spcPts val="300"/>
              </a:spcAft>
            </a:pPr>
            <a:r>
              <a:rPr sz="1500" dirty="0" err="1">
                <a:solidFill>
                  <a:schemeClr val="bg1"/>
                </a:solidFill>
              </a:rPr>
              <a:t>expenses.add</a:t>
            </a:r>
            <a:r>
              <a:rPr sz="1500" dirty="0">
                <a:solidFill>
                  <a:schemeClr val="bg1"/>
                </a:solidFill>
              </a:rPr>
              <a:t>(2500.0);</a:t>
            </a:r>
          </a:p>
          <a:p>
            <a:pPr>
              <a:spcAft>
                <a:spcPts val="300"/>
              </a:spcAft>
            </a:pPr>
            <a:r>
              <a:rPr sz="1500" dirty="0" err="1">
                <a:solidFill>
                  <a:schemeClr val="bg1"/>
                </a:solidFill>
              </a:rPr>
              <a:t>expenses.add</a:t>
            </a:r>
            <a:r>
              <a:rPr sz="1500" dirty="0">
                <a:solidFill>
                  <a:schemeClr val="bg1"/>
                </a:solidFill>
              </a:rPr>
              <a:t>(1500.0);</a:t>
            </a:r>
          </a:p>
          <a:p>
            <a:pPr>
              <a:spcAft>
                <a:spcPts val="300"/>
              </a:spcAft>
            </a:pPr>
            <a:r>
              <a:rPr sz="1500" dirty="0" err="1">
                <a:solidFill>
                  <a:schemeClr val="bg1"/>
                </a:solidFill>
              </a:rPr>
              <a:t>expenses.add</a:t>
            </a:r>
            <a:r>
              <a:rPr sz="1500" dirty="0">
                <a:solidFill>
                  <a:schemeClr val="bg1"/>
                </a:solidFill>
              </a:rPr>
              <a:t>(1000.0);</a:t>
            </a:r>
          </a:p>
          <a:p>
            <a:pPr>
              <a:spcAft>
                <a:spcPts val="300"/>
              </a:spcAft>
            </a:pPr>
            <a:endParaRPr sz="15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double total = </a:t>
            </a:r>
            <a:r>
              <a:rPr sz="1500" dirty="0" err="1">
                <a:solidFill>
                  <a:schemeClr val="bg1"/>
                </a:solidFill>
              </a:rPr>
              <a:t>expenses.stream</a:t>
            </a:r>
            <a:r>
              <a:rPr sz="1500" dirty="0">
                <a:solidFill>
                  <a:schemeClr val="bg1"/>
                </a:solidFill>
              </a:rPr>
              <a:t>()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.</a:t>
            </a:r>
            <a:r>
              <a:rPr sz="1500" dirty="0" err="1">
                <a:solidFill>
                  <a:schemeClr val="bg1"/>
                </a:solidFill>
              </a:rPr>
              <a:t>mapToDouble</a:t>
            </a:r>
            <a:r>
              <a:rPr sz="1500" dirty="0">
                <a:solidFill>
                  <a:schemeClr val="bg1"/>
                </a:solidFill>
              </a:rPr>
              <a:t>(Double::</a:t>
            </a:r>
            <a:r>
              <a:rPr sz="1500" dirty="0" err="1">
                <a:solidFill>
                  <a:schemeClr val="bg1"/>
                </a:solidFill>
              </a:rPr>
              <a:t>doubleValue</a:t>
            </a:r>
            <a:r>
              <a:rPr sz="1500" dirty="0">
                <a:solidFill>
                  <a:schemeClr val="bg1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500" dirty="0">
                <a:solidFill>
                  <a:schemeClr val="bg1"/>
                </a:solidFill>
              </a:rPr>
              <a:t>    .sum();</a:t>
            </a:r>
          </a:p>
          <a:p>
            <a:pPr>
              <a:spcAft>
                <a:spcPts val="300"/>
              </a:spcAft>
            </a:pPr>
            <a:endParaRPr sz="15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sz="1500" dirty="0" err="1">
                <a:solidFill>
                  <a:schemeClr val="bg1"/>
                </a:solidFill>
              </a:rPr>
              <a:t>System.out.println</a:t>
            </a:r>
            <a:r>
              <a:rPr sz="1500" dirty="0">
                <a:solidFill>
                  <a:schemeClr val="bg1"/>
                </a:solidFill>
              </a:rPr>
              <a:t>("Total: " + total);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10/12</a:t>
            </a:r>
          </a:p>
        </p:txBody>
      </p:sp>
      <p:sp>
        <p:nvSpPr>
          <p:cNvPr id="9" name="Oval 8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37" y="746903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dirty="0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46041" y="1754006"/>
            <a:ext cx="9875520" cy="33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Monthly Expense &amp; Budget Analyzer demonstrates Java concepts through a practical application.</a:t>
            </a:r>
          </a:p>
          <a:p>
            <a:r>
              <a:rPr dirty="0">
                <a:solidFill>
                  <a:schemeClr val="bg1"/>
                </a:solidFill>
              </a:rPr>
              <a:t>CO1: Data types, variables and operators calculate totals and balances.</a:t>
            </a:r>
          </a:p>
          <a:p>
            <a:r>
              <a:rPr dirty="0">
                <a:solidFill>
                  <a:schemeClr val="bg1"/>
                </a:solidFill>
              </a:rPr>
              <a:t>CO2: Conditions and loops support repeated entry and budget checks.</a:t>
            </a:r>
          </a:p>
          <a:p>
            <a:r>
              <a:rPr dirty="0">
                <a:solidFill>
                  <a:schemeClr val="bg1"/>
                </a:solidFill>
              </a:rPr>
              <a:t>CO3: Methods and arrays organize and calculate expense data.</a:t>
            </a:r>
          </a:p>
          <a:p>
            <a:r>
              <a:rPr dirty="0">
                <a:solidFill>
                  <a:schemeClr val="bg1"/>
                </a:solidFill>
              </a:rPr>
              <a:t>CO4: Classes and objects model expenses using OOP principles.</a:t>
            </a:r>
          </a:p>
          <a:p>
            <a:r>
              <a:rPr dirty="0">
                <a:solidFill>
                  <a:schemeClr val="bg1"/>
                </a:solidFill>
              </a:rPr>
              <a:t>CO5: Strings and file handling format and save expense records.</a:t>
            </a:r>
          </a:p>
          <a:p>
            <a:r>
              <a:rPr dirty="0">
                <a:solidFill>
                  <a:schemeClr val="bg1"/>
                </a:solidFill>
              </a:rPr>
              <a:t>CO6: Collections and streams manage and process expense data.</a:t>
            </a:r>
          </a:p>
          <a:p>
            <a:r>
              <a:rPr dirty="0">
                <a:solidFill>
                  <a:schemeClr val="bg1"/>
                </a:solidFill>
              </a:rPr>
              <a:t>Together, these concepts create a structured and extensible expense-management project.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                                                                     </a:t>
            </a:r>
            <a:r>
              <a:rPr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11/12</a:t>
            </a:r>
          </a:p>
        </p:txBody>
      </p:sp>
      <p:sp>
        <p:nvSpPr>
          <p:cNvPr id="8" name="Oval 7"/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921240" y="5424672"/>
            <a:ext cx="21945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t>Monthly Expense &amp; Budget Analyzer   |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C45E-E712-ED8C-EC11-224BF60D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39605-5CD2-4972-36D3-8E7F1C325D5C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B686BF-4274-8B65-33ED-F2AEAE7432C3}"/>
              </a:ext>
            </a:extLst>
          </p:cNvPr>
          <p:cNvSpPr txBox="1"/>
          <p:nvPr/>
        </p:nvSpPr>
        <p:spPr>
          <a:xfrm>
            <a:off x="1746041" y="1754006"/>
            <a:ext cx="9875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232D3C"/>
                </a:solidFill>
                <a:latin typeface="Aptos"/>
              </a:defRPr>
            </a:pPr>
            <a:r>
              <a:rPr lang="en-IN" dirty="0"/>
              <a:t>GitHub Repository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Repository</a:t>
            </a:r>
            <a:r>
              <a:rPr lang="en-IN" dirty="0"/>
              <a:t> </a:t>
            </a:r>
            <a:r>
              <a:rPr lang="en-IN" dirty="0" err="1"/>
              <a:t>Link:</a:t>
            </a:r>
            <a:r>
              <a:rPr lang="en-IN" dirty="0" err="1">
                <a:solidFill>
                  <a:schemeClr val="bg1"/>
                </a:solidFill>
              </a:rPr>
              <a:t>h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C490E-2652-64CF-2686-E4C1A6FACDF3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B5D75-E184-D486-2C16-A2FE38A0EE2E}"/>
              </a:ext>
            </a:extLst>
          </p:cNvPr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D"/>
                </a:solidFill>
                <a:latin typeface="Aptos"/>
              </a:defRPr>
            </a:pPr>
            <a:r>
              <a:t>Monthly Expense &amp; Budget Analyzer   | 12/12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443BFD-2D8D-EB8B-FE9D-94B67DB53DD4}"/>
              </a:ext>
            </a:extLst>
          </p:cNvPr>
          <p:cNvSpPr/>
          <p:nvPr/>
        </p:nvSpPr>
        <p:spPr>
          <a:xfrm>
            <a:off x="9784080" y="-685800"/>
            <a:ext cx="2834640" cy="2834640"/>
          </a:xfrm>
          <a:prstGeom prst="ellipse">
            <a:avLst/>
          </a:prstGeom>
          <a:solidFill>
            <a:srgbClr val="34D3CB"/>
          </a:solidFill>
          <a:ln>
            <a:solidFill>
              <a:srgbClr val="34D3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E0C797-90F0-837D-F8C3-04CF28DD5A14}"/>
              </a:ext>
            </a:extLst>
          </p:cNvPr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4A90E2"/>
          </a:solidFill>
          <a:ln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FAA8B7C-E051-B847-BBF5-F757A776FBA3}"/>
              </a:ext>
            </a:extLst>
          </p:cNvPr>
          <p:cNvSpPr/>
          <p:nvPr/>
        </p:nvSpPr>
        <p:spPr>
          <a:xfrm>
            <a:off x="9921240" y="5424672"/>
            <a:ext cx="2194560" cy="1005840"/>
          </a:xfrm>
          <a:prstGeom prst="roundRect">
            <a:avLst/>
          </a:prstGeom>
          <a:solidFill>
            <a:srgbClr val="F5F8FC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1239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984</Words>
  <Application>Microsoft Office PowerPoint</Application>
  <PresentationFormat>Widescreen</PresentationFormat>
  <Paragraphs>137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Bheemavarapu Sandeep</dc:creator>
  <cp:keywords/>
  <dc:description>generated using python-pptx</dc:description>
  <cp:lastModifiedBy>Bheemavarapu Sandeep</cp:lastModifiedBy>
  <cp:revision>5</cp:revision>
  <dcterms:created xsi:type="dcterms:W3CDTF">2013-01-27T09:14:16Z</dcterms:created>
  <dcterms:modified xsi:type="dcterms:W3CDTF">2026-10-15T09:43:36Z</dcterms:modified>
  <cp:category/>
</cp:coreProperties>
</file>